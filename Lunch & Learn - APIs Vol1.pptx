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Fira Code" panose="020B0809050000020004" pitchFamily="49" charset="0"/>
      <p:regular r:id="rId15"/>
    </p:embeddedFont>
    <p:embeddedFont>
      <p:font typeface="Plus Jakarta Sans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FFF9"/>
    <a:srgbClr val="038ED3"/>
    <a:srgbClr val="3FF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Estilo oscuro 1 - Énfasis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91646" autoAdjust="0"/>
  </p:normalViewPr>
  <p:slideViewPr>
    <p:cSldViewPr snapToGrid="0" snapToObjects="1">
      <p:cViewPr varScale="1">
        <p:scale>
          <a:sx n="101" d="100"/>
          <a:sy n="101" d="100"/>
        </p:scale>
        <p:origin x="94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8906D0-8B32-4234-9694-990B2BC7581D}" type="datetimeFigureOut">
              <a:rPr lang="es-CO" smtClean="0"/>
              <a:t>29/09/2026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392E04-8110-40EF-9F5A-B4F033E04A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9178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92E04-8110-40EF-9F5A-B4F033E04A62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2566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409381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00" noProof="1"/>
          </a:p>
        </p:txBody>
      </p:sp>
      <p:sp>
        <p:nvSpPr>
          <p:cNvPr id="4" name="Rounded Rectangle 3"/>
          <p:cNvSpPr/>
          <p:nvPr/>
        </p:nvSpPr>
        <p:spPr>
          <a:xfrm>
            <a:off x="762000" y="2145059"/>
            <a:ext cx="2590800" cy="304800"/>
          </a:xfrm>
          <a:prstGeom prst="roundRect">
            <a:avLst>
              <a:gd name="adj" fmla="val 50000"/>
            </a:avLst>
          </a:prstGeom>
          <a:solidFill>
            <a:srgbClr val="192646"/>
          </a:solidFill>
          <a:ln w="9525">
            <a:solidFill>
              <a:srgbClr val="2047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00" noProof="1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536726"/>
            <a:ext cx="194608" cy="22240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18" y="4548631"/>
            <a:ext cx="222409" cy="22240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7640" y="4524819"/>
            <a:ext cx="278011" cy="2224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2678459"/>
            <a:ext cx="2456891" cy="5913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s-CO" sz="4400" b="1" i="0" u="none" noProof="1">
                <a:solidFill>
                  <a:srgbClr val="FFFFFF"/>
                </a:solidFill>
                <a:latin typeface="Plus Jakarta Sans"/>
              </a:rPr>
              <a:t>APIs Vol.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455640"/>
            <a:ext cx="495398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2400" b="0" i="0" u="none" noProof="1">
                <a:solidFill>
                  <a:srgbClr val="38BDF8"/>
                </a:solidFill>
                <a:latin typeface="Plus Jakarta Sans"/>
              </a:rPr>
              <a:t>Cómo usar APIs y no morir en el intento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2184047"/>
            <a:ext cx="23812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O" sz="1600" b="1" i="0" u="none" noProof="1">
                <a:solidFill>
                  <a:srgbClr val="38BDF8"/>
                </a:solidFill>
                <a:latin typeface="Plus Jakarta Sans"/>
              </a:rPr>
              <a:t>LUNCH &amp; 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028" y="4512915"/>
            <a:ext cx="141904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1600" b="0" i="0" u="none" noProof="1">
                <a:solidFill>
                  <a:srgbClr val="94A3B8"/>
                </a:solidFill>
                <a:latin typeface="Plus Jakarta Sans"/>
              </a:rPr>
              <a:t>Data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0174" y="4524819"/>
            <a:ext cx="169334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1600" b="0" i="0" u="none" noProof="1">
                <a:solidFill>
                  <a:srgbClr val="94A3B8"/>
                </a:solidFill>
                <a:latin typeface="Plus Jakarta Sans"/>
              </a:rPr>
              <a:t>Inteligencia Artificial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9725" y="4512914"/>
            <a:ext cx="1441100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1600" b="0" i="0" u="none" noProof="1">
                <a:solidFill>
                  <a:srgbClr val="94A3B8"/>
                </a:solidFill>
                <a:latin typeface="Plus Jakarta Sans"/>
              </a:rPr>
              <a:t>Cloud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88507"/>
            <a:ext cx="10972800" cy="1285875"/>
          </a:xfrm>
          <a:prstGeom prst="roundRect">
            <a:avLst>
              <a:gd name="adj" fmla="val 888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3" name="Rounded Rectangle 2"/>
          <p:cNvSpPr/>
          <p:nvPr/>
        </p:nvSpPr>
        <p:spPr>
          <a:xfrm>
            <a:off x="609600" y="2964894"/>
            <a:ext cx="10972800" cy="2066925"/>
          </a:xfrm>
          <a:prstGeom prst="roundRect">
            <a:avLst>
              <a:gd name="adj" fmla="val 7373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200" noProof="1"/>
          </a:p>
        </p:txBody>
      </p:sp>
      <p:sp>
        <p:nvSpPr>
          <p:cNvPr id="4" name="Rectangle 3"/>
          <p:cNvSpPr/>
          <p:nvPr/>
        </p:nvSpPr>
        <p:spPr>
          <a:xfrm>
            <a:off x="609600" y="1388507"/>
            <a:ext cx="38100" cy="12858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5" name="Rounded Rectangle 4"/>
          <p:cNvSpPr/>
          <p:nvPr/>
        </p:nvSpPr>
        <p:spPr>
          <a:xfrm>
            <a:off x="962025" y="3393519"/>
            <a:ext cx="1714500" cy="1209675"/>
          </a:xfrm>
          <a:prstGeom prst="roundRect">
            <a:avLst>
              <a:gd name="adj" fmla="val 9448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200" noProof="1"/>
          </a:p>
        </p:txBody>
      </p:sp>
      <p:sp>
        <p:nvSpPr>
          <p:cNvPr id="6" name="Rounded Rectangle 5"/>
          <p:cNvSpPr/>
          <p:nvPr/>
        </p:nvSpPr>
        <p:spPr>
          <a:xfrm>
            <a:off x="5000625" y="3317319"/>
            <a:ext cx="1905000" cy="1362075"/>
          </a:xfrm>
          <a:prstGeom prst="roundRect">
            <a:avLst>
              <a:gd name="adj" fmla="val 8391"/>
            </a:avLst>
          </a:prstGeom>
          <a:solidFill>
            <a:srgbClr val="312E81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200" noProof="1"/>
          </a:p>
        </p:txBody>
      </p:sp>
      <p:sp>
        <p:nvSpPr>
          <p:cNvPr id="7" name="Rounded Rectangle 6"/>
          <p:cNvSpPr/>
          <p:nvPr/>
        </p:nvSpPr>
        <p:spPr>
          <a:xfrm>
            <a:off x="9229725" y="3393519"/>
            <a:ext cx="2000250" cy="1209675"/>
          </a:xfrm>
          <a:prstGeom prst="roundRect">
            <a:avLst>
              <a:gd name="adj" fmla="val 9448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200" noProof="1"/>
          </a:p>
        </p:txBody>
      </p:sp>
      <p:sp>
        <p:nvSpPr>
          <p:cNvPr id="8" name="Rounded Rectangle 7"/>
          <p:cNvSpPr/>
          <p:nvPr/>
        </p:nvSpPr>
        <p:spPr>
          <a:xfrm>
            <a:off x="3038475" y="3703081"/>
            <a:ext cx="1600200" cy="228600"/>
          </a:xfrm>
          <a:prstGeom prst="roundRect">
            <a:avLst>
              <a:gd name="adj" fmla="val 50000"/>
            </a:avLst>
          </a:prstGeom>
          <a:solidFill>
            <a:srgbClr val="13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200" noProof="1"/>
          </a:p>
        </p:txBody>
      </p:sp>
      <p:sp>
        <p:nvSpPr>
          <p:cNvPr id="9" name="Rectangle 8"/>
          <p:cNvSpPr/>
          <p:nvPr/>
        </p:nvSpPr>
        <p:spPr>
          <a:xfrm>
            <a:off x="2828925" y="3988831"/>
            <a:ext cx="20193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200" noProof="1"/>
          </a:p>
        </p:txBody>
      </p:sp>
      <p:sp>
        <p:nvSpPr>
          <p:cNvPr id="10" name="Rounded Rectangle 9"/>
          <p:cNvSpPr/>
          <p:nvPr/>
        </p:nvSpPr>
        <p:spPr>
          <a:xfrm>
            <a:off x="2890837" y="4065031"/>
            <a:ext cx="1895475" cy="228600"/>
          </a:xfrm>
          <a:prstGeom prst="roundRect">
            <a:avLst>
              <a:gd name="adj" fmla="val 50000"/>
            </a:avLst>
          </a:prstGeom>
          <a:solidFill>
            <a:srgbClr val="13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200" noProof="1"/>
          </a:p>
        </p:txBody>
      </p:sp>
      <p:sp>
        <p:nvSpPr>
          <p:cNvPr id="11" name="Rectangle 10"/>
          <p:cNvSpPr/>
          <p:nvPr/>
        </p:nvSpPr>
        <p:spPr>
          <a:xfrm>
            <a:off x="7058025" y="3888819"/>
            <a:ext cx="20193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200" noProof="1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5" y="3593544"/>
            <a:ext cx="3429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812" y="3564969"/>
            <a:ext cx="42862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7450" y="3593544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1050" b="1" i="0" u="none" noProof="1">
                <a:solidFill>
                  <a:srgbClr val="38BDF8"/>
                </a:solidFill>
                <a:latin typeface="Plus Jakarta Sans"/>
              </a:rPr>
              <a:t>CONCEPTO PRINCIPAL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2400" b="1" i="0" u="none" noProof="1">
                <a:solidFill>
                  <a:srgbClr val="FFFFFF"/>
                </a:solidFill>
                <a:latin typeface="Plus Jakarta Sans"/>
              </a:rPr>
              <a:t>¿Qué es una API?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1617107"/>
            <a:ext cx="371595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2000" b="1" i="0" u="none" noProof="1">
                <a:solidFill>
                  <a:srgbClr val="38BDF8"/>
                </a:solidFill>
                <a:latin typeface="Plus Jakarta Sans"/>
              </a:rPr>
              <a:t>Application Programming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1931432"/>
            <a:ext cx="10420350" cy="53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s-CO" b="0" i="0" u="none" noProof="1">
                <a:solidFill>
                  <a:srgbClr val="E2E8F0"/>
                </a:solidFill>
                <a:latin typeface="Plus Jakarta Sans"/>
              </a:rPr>
              <a:t>Es un </a:t>
            </a:r>
            <a:r>
              <a:rPr lang="es-CO" b="1" i="0" u="none" noProof="1">
                <a:solidFill>
                  <a:srgbClr val="E2E8F0"/>
                </a:solidFill>
                <a:latin typeface="Plus Jakarta Sans"/>
              </a:rPr>
              <a:t>contrato de comunicación estandarizado</a:t>
            </a:r>
            <a:r>
              <a:rPr lang="es-CO" b="0" i="0" u="none" noProof="1">
                <a:solidFill>
                  <a:srgbClr val="E2E8F0"/>
                </a:solidFill>
                <a:latin typeface="Plus Jakarta Sans"/>
              </a:rPr>
              <a:t> que permite a dos sistemas independientes intercambiar información y ejecutar acciones de forma segura.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702" y="3993594"/>
            <a:ext cx="104714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2000" b="1" i="0" u="none" noProof="1">
                <a:solidFill>
                  <a:srgbClr val="FFFFFF"/>
                </a:solidFill>
                <a:latin typeface="Plus Jakarta Sans"/>
              </a:rPr>
              <a:t>Sistema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2046" y="4250769"/>
            <a:ext cx="81445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1200" b="0" i="0" u="none" noProof="1">
                <a:solidFill>
                  <a:srgbClr val="94A3B8"/>
                </a:solidFill>
                <a:latin typeface="Plus Jakarta Sans"/>
              </a:rPr>
              <a:t>Cliente /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3898" y="3713678"/>
            <a:ext cx="159097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200" b="1" i="0" u="none" noProof="1">
                <a:solidFill>
                  <a:srgbClr val="34D399"/>
                </a:solidFill>
                <a:latin typeface="Plus Jakarta Sans"/>
              </a:rPr>
              <a:t>1. Request (Petición)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5137" y="4103131"/>
            <a:ext cx="176212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200" b="1" i="0" u="none" noProof="1">
                <a:solidFill>
                  <a:srgbClr val="38BDF8"/>
                </a:solidFill>
                <a:latin typeface="Plus Jakarta Sans"/>
              </a:rPr>
              <a:t>← 2. Response (Respuesta)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37520" y="4003119"/>
            <a:ext cx="43120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2400" b="1" i="0" u="none" noProof="1">
                <a:solidFill>
                  <a:srgbClr val="FFFFFF"/>
                </a:solidFill>
                <a:latin typeface="Plus Jakarta Sans"/>
              </a:rPr>
              <a:t>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7198" y="4279344"/>
            <a:ext cx="115185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1200" b="0" i="0" u="none" noProof="1">
                <a:solidFill>
                  <a:srgbClr val="C7D2FE"/>
                </a:solidFill>
                <a:latin typeface="Plus Jakarta Sans"/>
              </a:rPr>
              <a:t>Interfaz / Contrato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787" y="3965019"/>
            <a:ext cx="142943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1200" b="0" i="0" u="none" noProof="1">
                <a:solidFill>
                  <a:srgbClr val="94A3B8"/>
                </a:solidFill>
                <a:latin typeface="Plus Jakarta Sans"/>
              </a:rPr>
              <a:t>Procesamiento Interno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1888" y="3993594"/>
            <a:ext cx="103592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2000" b="1" i="0" u="none" noProof="1">
                <a:solidFill>
                  <a:srgbClr val="FFFFFF"/>
                </a:solidFill>
                <a:latin typeface="Plus Jakarta Sans"/>
              </a:rPr>
              <a:t>Sistema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551" y="4250769"/>
            <a:ext cx="153259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1200" b="0" i="0" u="none" noProof="1">
                <a:solidFill>
                  <a:srgbClr val="94A3B8"/>
                </a:solidFill>
                <a:latin typeface="Plus Jakarta Sans"/>
              </a:rPr>
              <a:t>Servidor / Base de Datos</a:t>
            </a:r>
          </a:p>
        </p:txBody>
      </p:sp>
      <p:sp>
        <p:nvSpPr>
          <p:cNvPr id="31" name="Rounded Rectangle 1">
            <a:extLst>
              <a:ext uri="{FF2B5EF4-FFF2-40B4-BE49-F238E27FC236}">
                <a16:creationId xmlns:a16="http://schemas.microsoft.com/office/drawing/2014/main" id="{65652A0C-260A-C427-3F7A-23EF6FB53DD9}"/>
              </a:ext>
            </a:extLst>
          </p:cNvPr>
          <p:cNvSpPr/>
          <p:nvPr/>
        </p:nvSpPr>
        <p:spPr>
          <a:xfrm>
            <a:off x="609600" y="5322332"/>
            <a:ext cx="10972800" cy="1285875"/>
          </a:xfrm>
          <a:prstGeom prst="roundRect">
            <a:avLst>
              <a:gd name="adj" fmla="val 888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64D832DD-DDF0-CB20-5C2F-7969EEBF44B7}"/>
              </a:ext>
            </a:extLst>
          </p:cNvPr>
          <p:cNvSpPr/>
          <p:nvPr/>
        </p:nvSpPr>
        <p:spPr>
          <a:xfrm>
            <a:off x="609600" y="5322332"/>
            <a:ext cx="38100" cy="12858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35" name="TextBox 16">
            <a:extLst>
              <a:ext uri="{FF2B5EF4-FFF2-40B4-BE49-F238E27FC236}">
                <a16:creationId xmlns:a16="http://schemas.microsoft.com/office/drawing/2014/main" id="{B84732FA-E1BA-AEF8-31AE-7E8093A4BD91}"/>
              </a:ext>
            </a:extLst>
          </p:cNvPr>
          <p:cNvSpPr txBox="1"/>
          <p:nvPr/>
        </p:nvSpPr>
        <p:spPr>
          <a:xfrm>
            <a:off x="952500" y="5550932"/>
            <a:ext cx="169456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2000" b="1" i="0" u="none" noProof="1">
                <a:solidFill>
                  <a:srgbClr val="38BDF8"/>
                </a:solidFill>
                <a:latin typeface="Plus Jakarta Sans"/>
              </a:rPr>
              <a:t>¿Y las REST API?</a:t>
            </a:r>
          </a:p>
        </p:txBody>
      </p:sp>
      <p:sp>
        <p:nvSpPr>
          <p:cNvPr id="37" name="TextBox 17">
            <a:extLst>
              <a:ext uri="{FF2B5EF4-FFF2-40B4-BE49-F238E27FC236}">
                <a16:creationId xmlns:a16="http://schemas.microsoft.com/office/drawing/2014/main" id="{73CC30B2-C509-6970-12B8-FCF91A991FE8}"/>
              </a:ext>
            </a:extLst>
          </p:cNvPr>
          <p:cNvSpPr txBox="1"/>
          <p:nvPr/>
        </p:nvSpPr>
        <p:spPr>
          <a:xfrm>
            <a:off x="952500" y="5865257"/>
            <a:ext cx="104203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CO" noProof="1">
                <a:solidFill>
                  <a:srgbClr val="E2E8F0"/>
                </a:solidFill>
                <a:latin typeface="Plus Jakarta Sans"/>
              </a:rPr>
              <a:t>REST (Representational State Transfer) es un estilo arquitectónico para construir APIs. Una REST API expone recursos mediante URLs y utiliza métodos HTTP estándar (GET, POST, PUT, DELETE) para interactuar con ellos.</a:t>
            </a:r>
            <a:endParaRPr lang="es-CO" b="0" i="0" u="none" noProof="1">
              <a:solidFill>
                <a:srgbClr val="E2E8F0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4825" y="2600008"/>
            <a:ext cx="2605087" cy="676275"/>
          </a:xfrm>
          <a:prstGeom prst="roundRect">
            <a:avLst>
              <a:gd name="adj" fmla="val 1408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3" name="Rounded Rectangle 2"/>
          <p:cNvSpPr/>
          <p:nvPr/>
        </p:nvSpPr>
        <p:spPr>
          <a:xfrm>
            <a:off x="504825" y="3397977"/>
            <a:ext cx="2605087" cy="676275"/>
          </a:xfrm>
          <a:prstGeom prst="roundRect">
            <a:avLst>
              <a:gd name="adj" fmla="val 1408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4" name="Rounded Rectangle 3"/>
          <p:cNvSpPr/>
          <p:nvPr/>
        </p:nvSpPr>
        <p:spPr>
          <a:xfrm>
            <a:off x="3205164" y="3397977"/>
            <a:ext cx="2605087" cy="676275"/>
          </a:xfrm>
          <a:prstGeom prst="roundRect">
            <a:avLst>
              <a:gd name="adj" fmla="val 1408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5" name="Rounded Rectangle 4"/>
          <p:cNvSpPr/>
          <p:nvPr/>
        </p:nvSpPr>
        <p:spPr>
          <a:xfrm>
            <a:off x="3224212" y="2599073"/>
            <a:ext cx="2605087" cy="676275"/>
          </a:xfrm>
          <a:prstGeom prst="roundRect">
            <a:avLst>
              <a:gd name="adj" fmla="val 1408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823846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089" y="3621815"/>
            <a:ext cx="2857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137" y="2822911"/>
            <a:ext cx="28575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1050" b="1" i="0" u="none" noProof="1">
                <a:solidFill>
                  <a:srgbClr val="38BDF8"/>
                </a:solidFill>
                <a:latin typeface="Plus Jakarta Sans"/>
              </a:rPr>
              <a:t>ECOSISTEMA DE INTEGRACIÓN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8093369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3200" b="1" i="0" u="none" noProof="1">
                <a:solidFill>
                  <a:srgbClr val="FFFFFF"/>
                </a:solidFill>
                <a:latin typeface="Plus Jakarta Sans"/>
              </a:rPr>
              <a:t>APIs</a:t>
            </a:r>
            <a:r>
              <a:rPr lang="es-CO" sz="2400" b="1" i="0" u="none" noProof="1">
                <a:solidFill>
                  <a:srgbClr val="FFFFFF"/>
                </a:solidFill>
                <a:latin typeface="Plus Jakarta Sans"/>
              </a:rPr>
              <a:t> </a:t>
            </a:r>
            <a:r>
              <a:rPr lang="es-CO" sz="3200" b="1" i="0" u="none" noProof="1">
                <a:solidFill>
                  <a:srgbClr val="FFFFFF"/>
                </a:solidFill>
                <a:latin typeface="Plus Jakarta Sans"/>
              </a:rPr>
              <a:t>en</a:t>
            </a:r>
            <a:r>
              <a:rPr lang="es-CO" sz="2400" b="1" i="0" u="none" noProof="1">
                <a:solidFill>
                  <a:srgbClr val="FFFFFF"/>
                </a:solidFill>
                <a:latin typeface="Plus Jakarta Sans"/>
              </a:rPr>
              <a:t> </a:t>
            </a:r>
            <a:r>
              <a:rPr lang="es-CO" sz="3200" b="1" i="0" u="none" noProof="1">
                <a:solidFill>
                  <a:srgbClr val="FFFFFF"/>
                </a:solidFill>
                <a:latin typeface="Plus Jakarta Sans"/>
              </a:rPr>
              <a:t>Data Engineering e Inteligencia Artificial</a:t>
            </a:r>
            <a:endParaRPr lang="es-CO" sz="2400" b="1" i="0" u="none" noProof="1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9600" y="1519674"/>
            <a:ext cx="10744200" cy="554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s-CO" b="0" i="0" u="none" noProof="1">
                <a:solidFill>
                  <a:srgbClr val="CBD5E1"/>
                </a:solidFill>
                <a:latin typeface="Plus Jakarta Sans"/>
              </a:rPr>
              <a:t>Las APIs son el puente de conexión que permite a las plataformas de datos, servicios cloud y modelos de IA comunicarse de forma automatizada.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2761933"/>
            <a:ext cx="99110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b="1" i="0" u="none" noProof="1">
                <a:solidFill>
                  <a:srgbClr val="F8FAFC"/>
                </a:solidFill>
                <a:latin typeface="Plus Jakarta Sans"/>
              </a:rPr>
              <a:t>Snowflake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3007191"/>
            <a:ext cx="107561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100" b="0" i="0" u="none" noProof="1">
                <a:solidFill>
                  <a:srgbClr val="94A3B8"/>
                </a:solidFill>
                <a:latin typeface="Plus Jakarta Sans"/>
              </a:rPr>
              <a:t>Consultas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075" y="3559902"/>
            <a:ext cx="100681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b="1" i="0" u="none" noProof="1">
                <a:solidFill>
                  <a:srgbClr val="F8FAFC"/>
                </a:solidFill>
                <a:latin typeface="Plus Jakarta Sans"/>
              </a:rPr>
              <a:t>Databricks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075" y="3805160"/>
            <a:ext cx="100027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100" b="0" i="0" u="none" noProof="1">
                <a:solidFill>
                  <a:srgbClr val="94A3B8"/>
                </a:solidFill>
                <a:latin typeface="Plus Jakarta Sans"/>
              </a:rPr>
              <a:t>Ejecución de Jobs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139" y="3559902"/>
            <a:ext cx="71814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b="1" i="0" u="none" noProof="1">
                <a:solidFill>
                  <a:srgbClr val="F8FAFC"/>
                </a:solidFill>
                <a:latin typeface="Plus Jakarta Sans"/>
              </a:rPr>
              <a:t>OpenAI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139" y="3805160"/>
            <a:ext cx="58669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100" b="0" i="0" u="none" noProof="1">
                <a:solidFill>
                  <a:srgbClr val="94A3B8"/>
                </a:solidFill>
                <a:latin typeface="Plus Jakarta Sans"/>
              </a:rPr>
              <a:t>Usar LLMs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6187" y="2760998"/>
            <a:ext cx="179908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b="1" i="0" u="none" noProof="1">
                <a:solidFill>
                  <a:srgbClr val="F8FAFC"/>
                </a:solidFill>
                <a:latin typeface="Plus Jakarta Sans"/>
              </a:rPr>
              <a:t>AWS / GCP / Azure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6187" y="3006255"/>
            <a:ext cx="1240724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100" b="0" i="0" u="none" noProof="1">
                <a:solidFill>
                  <a:srgbClr val="94A3B8"/>
                </a:solidFill>
                <a:latin typeface="Plus Jakarta Sans"/>
              </a:rPr>
              <a:t>Automatización cloud</a:t>
            </a:r>
          </a:p>
        </p:txBody>
      </p:sp>
      <p:pic>
        <p:nvPicPr>
          <p:cNvPr id="23" name="Imagen 22" descr="image.png">
            <a:extLst>
              <a:ext uri="{FF2B5EF4-FFF2-40B4-BE49-F238E27FC236}">
                <a16:creationId xmlns:a16="http://schemas.microsoft.com/office/drawing/2014/main" id="{C7E88E1E-2BBA-9010-C56D-497FB8970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1102" y="4732930"/>
            <a:ext cx="9729796" cy="148789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732F9B3-ABC9-EBBE-9426-2793E6B0BE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042" y="3599884"/>
            <a:ext cx="268103" cy="272462"/>
          </a:xfrm>
          <a:prstGeom prst="rect">
            <a:avLst/>
          </a:prstGeom>
        </p:spPr>
      </p:pic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4D832F93-712E-137B-D948-BE70D9183B14}"/>
              </a:ext>
            </a:extLst>
          </p:cNvPr>
          <p:cNvSpPr/>
          <p:nvPr/>
        </p:nvSpPr>
        <p:spPr>
          <a:xfrm>
            <a:off x="6520805" y="2427781"/>
            <a:ext cx="5122569" cy="1796110"/>
          </a:xfrm>
          <a:prstGeom prst="roundRect">
            <a:avLst>
              <a:gd name="adj" fmla="val 1408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sz="1600" b="1" noProof="1">
                <a:solidFill>
                  <a:srgbClr val="00B0F0"/>
                </a:solidFill>
              </a:rPr>
              <a:t>¿Por qué importan para un Data Engineer?</a:t>
            </a:r>
          </a:p>
          <a:p>
            <a:endParaRPr lang="es-CO" sz="1400" noProof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noProof="1"/>
              <a:t>Automatizan procesos entre plataformas.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noProof="1"/>
              <a:t>Permiten integrar servicios cloud, bases de datos y modelos de 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noProof="1"/>
              <a:t>Facilitan la orquestación de pipelines y workflows.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400" noProof="1"/>
              <a:t>Eliminan tareas manuales y habilitar soluciones escalables.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037374" y="4225119"/>
            <a:ext cx="4283049" cy="1278341"/>
          </a:xfrm>
          <a:prstGeom prst="roundRect">
            <a:avLst>
              <a:gd name="adj" fmla="val 17241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200" noProof="1"/>
          </a:p>
        </p:txBody>
      </p:sp>
      <p:sp>
        <p:nvSpPr>
          <p:cNvPr id="3" name="Rounded Rectangle 2"/>
          <p:cNvSpPr/>
          <p:nvPr/>
        </p:nvSpPr>
        <p:spPr>
          <a:xfrm>
            <a:off x="634974" y="1533711"/>
            <a:ext cx="2628900" cy="1579066"/>
          </a:xfrm>
          <a:prstGeom prst="roundRect">
            <a:avLst>
              <a:gd name="adj" fmla="val 723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4" name="Rounded Rectangle 3"/>
          <p:cNvSpPr/>
          <p:nvPr/>
        </p:nvSpPr>
        <p:spPr>
          <a:xfrm>
            <a:off x="3416274" y="1533711"/>
            <a:ext cx="2628900" cy="1579066"/>
          </a:xfrm>
          <a:prstGeom prst="roundRect">
            <a:avLst>
              <a:gd name="adj" fmla="val 723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5" name="Rounded Rectangle 4"/>
          <p:cNvSpPr/>
          <p:nvPr/>
        </p:nvSpPr>
        <p:spPr>
          <a:xfrm>
            <a:off x="6197574" y="1533711"/>
            <a:ext cx="2628900" cy="1579066"/>
          </a:xfrm>
          <a:prstGeom prst="roundRect">
            <a:avLst>
              <a:gd name="adj" fmla="val 723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6" name="Rounded Rectangle 5"/>
          <p:cNvSpPr/>
          <p:nvPr/>
        </p:nvSpPr>
        <p:spPr>
          <a:xfrm>
            <a:off x="8978874" y="1533711"/>
            <a:ext cx="2628900" cy="1579066"/>
          </a:xfrm>
          <a:prstGeom prst="roundRect">
            <a:avLst>
              <a:gd name="adj" fmla="val 723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7" name="Rounded Rectangle 6"/>
          <p:cNvSpPr/>
          <p:nvPr/>
        </p:nvSpPr>
        <p:spPr>
          <a:xfrm>
            <a:off x="834999" y="1743261"/>
            <a:ext cx="568668" cy="247650"/>
          </a:xfrm>
          <a:prstGeom prst="roundRect">
            <a:avLst>
              <a:gd name="adj" fmla="val 23076"/>
            </a:avLst>
          </a:prstGeom>
          <a:solidFill>
            <a:srgbClr val="223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600" noProof="1"/>
          </a:p>
        </p:txBody>
      </p:sp>
      <p:sp>
        <p:nvSpPr>
          <p:cNvPr id="8" name="Rectangle 7"/>
          <p:cNvSpPr/>
          <p:nvPr/>
        </p:nvSpPr>
        <p:spPr>
          <a:xfrm>
            <a:off x="634974" y="3103253"/>
            <a:ext cx="2628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9" name="Rectangle 8"/>
          <p:cNvSpPr/>
          <p:nvPr/>
        </p:nvSpPr>
        <p:spPr>
          <a:xfrm>
            <a:off x="634974" y="1529901"/>
            <a:ext cx="2628900" cy="45719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600" noProof="1"/>
          </a:p>
        </p:txBody>
      </p:sp>
      <p:sp>
        <p:nvSpPr>
          <p:cNvPr id="10" name="Rectangle 9"/>
          <p:cNvSpPr/>
          <p:nvPr/>
        </p:nvSpPr>
        <p:spPr>
          <a:xfrm>
            <a:off x="634974" y="1533711"/>
            <a:ext cx="9525" cy="157906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11" name="Rectangle 10"/>
          <p:cNvSpPr/>
          <p:nvPr/>
        </p:nvSpPr>
        <p:spPr>
          <a:xfrm>
            <a:off x="3254349" y="1533711"/>
            <a:ext cx="9525" cy="157906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12" name="Rounded Rectangle 11"/>
          <p:cNvSpPr/>
          <p:nvPr/>
        </p:nvSpPr>
        <p:spPr>
          <a:xfrm>
            <a:off x="3616298" y="1743261"/>
            <a:ext cx="701761" cy="247650"/>
          </a:xfrm>
          <a:prstGeom prst="roundRect">
            <a:avLst>
              <a:gd name="adj" fmla="val 23076"/>
            </a:avLst>
          </a:prstGeom>
          <a:solidFill>
            <a:srgbClr val="214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600" noProof="1"/>
          </a:p>
        </p:txBody>
      </p:sp>
      <p:sp>
        <p:nvSpPr>
          <p:cNvPr id="13" name="Rectangle 12"/>
          <p:cNvSpPr/>
          <p:nvPr/>
        </p:nvSpPr>
        <p:spPr>
          <a:xfrm>
            <a:off x="3416274" y="3103253"/>
            <a:ext cx="2628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14" name="Rectangle 13"/>
          <p:cNvSpPr/>
          <p:nvPr/>
        </p:nvSpPr>
        <p:spPr>
          <a:xfrm>
            <a:off x="3416274" y="1533710"/>
            <a:ext cx="2619375" cy="45719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600" noProof="1"/>
          </a:p>
        </p:txBody>
      </p:sp>
      <p:sp>
        <p:nvSpPr>
          <p:cNvPr id="15" name="Rectangle 14"/>
          <p:cNvSpPr/>
          <p:nvPr/>
        </p:nvSpPr>
        <p:spPr>
          <a:xfrm>
            <a:off x="3416274" y="1533711"/>
            <a:ext cx="9525" cy="157906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16" name="Rectangle 15"/>
          <p:cNvSpPr/>
          <p:nvPr/>
        </p:nvSpPr>
        <p:spPr>
          <a:xfrm>
            <a:off x="6035649" y="1533711"/>
            <a:ext cx="9525" cy="157906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17" name="Rounded Rectangle 16"/>
          <p:cNvSpPr/>
          <p:nvPr/>
        </p:nvSpPr>
        <p:spPr>
          <a:xfrm>
            <a:off x="6397599" y="1743261"/>
            <a:ext cx="568668" cy="247650"/>
          </a:xfrm>
          <a:prstGeom prst="roundRect">
            <a:avLst>
              <a:gd name="adj" fmla="val 23076"/>
            </a:avLst>
          </a:prstGeom>
          <a:solidFill>
            <a:srgbClr val="3E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600" noProof="1"/>
          </a:p>
        </p:txBody>
      </p:sp>
      <p:sp>
        <p:nvSpPr>
          <p:cNvPr id="18" name="Rectangle 17"/>
          <p:cNvSpPr/>
          <p:nvPr/>
        </p:nvSpPr>
        <p:spPr>
          <a:xfrm>
            <a:off x="6197574" y="3103253"/>
            <a:ext cx="2628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19" name="Rectangle 18"/>
          <p:cNvSpPr/>
          <p:nvPr/>
        </p:nvSpPr>
        <p:spPr>
          <a:xfrm>
            <a:off x="6197574" y="1533710"/>
            <a:ext cx="2619375" cy="4571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600" noProof="1"/>
          </a:p>
        </p:txBody>
      </p:sp>
      <p:sp>
        <p:nvSpPr>
          <p:cNvPr id="20" name="Rectangle 19"/>
          <p:cNvSpPr/>
          <p:nvPr/>
        </p:nvSpPr>
        <p:spPr>
          <a:xfrm>
            <a:off x="6197574" y="1533711"/>
            <a:ext cx="9525" cy="157906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21" name="Rectangle 20"/>
          <p:cNvSpPr/>
          <p:nvPr/>
        </p:nvSpPr>
        <p:spPr>
          <a:xfrm>
            <a:off x="8816949" y="1533711"/>
            <a:ext cx="9525" cy="157906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22" name="Rounded Rectangle 21"/>
          <p:cNvSpPr/>
          <p:nvPr/>
        </p:nvSpPr>
        <p:spPr>
          <a:xfrm>
            <a:off x="9178898" y="1743261"/>
            <a:ext cx="846953" cy="247650"/>
          </a:xfrm>
          <a:prstGeom prst="roundRect">
            <a:avLst>
              <a:gd name="adj" fmla="val 23076"/>
            </a:avLst>
          </a:prstGeom>
          <a:solidFill>
            <a:srgbClr val="3D2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600" noProof="1"/>
          </a:p>
        </p:txBody>
      </p:sp>
      <p:sp>
        <p:nvSpPr>
          <p:cNvPr id="23" name="Rectangle 22"/>
          <p:cNvSpPr/>
          <p:nvPr/>
        </p:nvSpPr>
        <p:spPr>
          <a:xfrm>
            <a:off x="8978874" y="3103253"/>
            <a:ext cx="2628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24" name="Rectangle 23"/>
          <p:cNvSpPr/>
          <p:nvPr/>
        </p:nvSpPr>
        <p:spPr>
          <a:xfrm>
            <a:off x="8978874" y="1533710"/>
            <a:ext cx="2628900" cy="45719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600" noProof="1"/>
          </a:p>
        </p:txBody>
      </p:sp>
      <p:sp>
        <p:nvSpPr>
          <p:cNvPr id="25" name="Rectangle 24"/>
          <p:cNvSpPr/>
          <p:nvPr/>
        </p:nvSpPr>
        <p:spPr>
          <a:xfrm>
            <a:off x="8978874" y="1533711"/>
            <a:ext cx="9525" cy="157906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26" name="Rectangle 25"/>
          <p:cNvSpPr/>
          <p:nvPr/>
        </p:nvSpPr>
        <p:spPr>
          <a:xfrm>
            <a:off x="11598249" y="1533711"/>
            <a:ext cx="9525" cy="1579066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27" name="Rounded Rectangle 26"/>
          <p:cNvSpPr/>
          <p:nvPr/>
        </p:nvSpPr>
        <p:spPr>
          <a:xfrm>
            <a:off x="8823562" y="4363215"/>
            <a:ext cx="2341088" cy="245789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200" noProof="1"/>
          </a:p>
        </p:txBody>
      </p:sp>
      <p:sp>
        <p:nvSpPr>
          <p:cNvPr id="28" name="Rounded Rectangle 27"/>
          <p:cNvSpPr/>
          <p:nvPr/>
        </p:nvSpPr>
        <p:spPr>
          <a:xfrm>
            <a:off x="8823561" y="4758556"/>
            <a:ext cx="2341089" cy="245789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200" noProof="1"/>
          </a:p>
        </p:txBody>
      </p:sp>
      <p:sp>
        <p:nvSpPr>
          <p:cNvPr id="29" name="Rounded Rectangle 28"/>
          <p:cNvSpPr/>
          <p:nvPr/>
        </p:nvSpPr>
        <p:spPr>
          <a:xfrm>
            <a:off x="8814036" y="5126370"/>
            <a:ext cx="2350614" cy="245789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600" noProof="1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721" y="4783239"/>
            <a:ext cx="222005" cy="19425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1050" b="1" i="0" u="none" noProof="1">
                <a:solidFill>
                  <a:srgbClr val="38BDF8"/>
                </a:solidFill>
                <a:latin typeface="Plus Jakarta Sans"/>
              </a:rPr>
              <a:t>PROTOCOLOS DE COMUNICACIÓN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704850"/>
            <a:ext cx="5468228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3200" b="1" i="0" u="none" noProof="1">
                <a:solidFill>
                  <a:srgbClr val="FFFFFF"/>
                </a:solidFill>
                <a:latin typeface="Plus Jakarta Sans"/>
              </a:rPr>
              <a:t>Comandos</a:t>
            </a:r>
            <a:r>
              <a:rPr lang="es-CO" sz="2400" b="1" i="0" u="none" noProof="1">
                <a:solidFill>
                  <a:srgbClr val="FFFFFF"/>
                </a:solidFill>
                <a:latin typeface="Plus Jakarta Sans"/>
              </a:rPr>
              <a:t> </a:t>
            </a:r>
            <a:r>
              <a:rPr lang="es-CO" sz="3200" b="1" i="0" u="none" noProof="1">
                <a:solidFill>
                  <a:srgbClr val="FFFFFF"/>
                </a:solidFill>
                <a:latin typeface="Plus Jakarta Sans"/>
              </a:rPr>
              <a:t>HTTP Fundamentales</a:t>
            </a:r>
            <a:endParaRPr lang="es-CO" sz="2400" b="1" i="0" u="none" noProof="1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76364" y="4744737"/>
            <a:ext cx="1647198" cy="246221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lang="es-CO" sz="1600" b="1" noProof="1">
                <a:solidFill>
                  <a:srgbClr val="CBD5E1"/>
                </a:solidFill>
                <a:latin typeface="Plus Jakarta Sans"/>
              </a:rPr>
              <a:t>Otros métodos</a:t>
            </a:r>
            <a:r>
              <a:rPr lang="es-CO" sz="1600" b="1" i="0" u="none" noProof="1">
                <a:solidFill>
                  <a:srgbClr val="CBD5E1"/>
                </a:solidFill>
                <a:latin typeface="Plus Jakarta Sans"/>
              </a:rPr>
              <a:t>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249" y="1743261"/>
            <a:ext cx="4476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b="1" i="0" u="none" noProof="1">
                <a:solidFill>
                  <a:srgbClr val="38BDF8"/>
                </a:solidFill>
                <a:latin typeface="Plus Jakarta Sans"/>
              </a:rP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999" y="2076636"/>
            <a:ext cx="91307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b="1" i="0" u="none" noProof="1">
                <a:solidFill>
                  <a:srgbClr val="FFFFFF"/>
                </a:solidFill>
                <a:latin typeface="Plus Jakarta Sans"/>
              </a:rPr>
              <a:t>Consultar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999" y="2352861"/>
            <a:ext cx="232410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s-CO" sz="1400" b="0" i="0" u="none" noProof="1">
                <a:solidFill>
                  <a:srgbClr val="94A3B8"/>
                </a:solidFill>
                <a:latin typeface="Plus Jakarta Sans"/>
              </a:rPr>
              <a:t>Obtiene o lee información existente de un recurso sin modificarlo.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11549" y="1732031"/>
            <a:ext cx="58076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b="1" i="0" u="none" noProof="1">
                <a:solidFill>
                  <a:srgbClr val="34D399"/>
                </a:solidFill>
                <a:latin typeface="Plus Jakarta Sans"/>
              </a:rPr>
              <a:t>POST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6299" y="2076636"/>
            <a:ext cx="149720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b="1" i="0" u="none" noProof="1">
                <a:solidFill>
                  <a:srgbClr val="FFFFFF"/>
                </a:solidFill>
                <a:latin typeface="Plus Jakarta Sans"/>
              </a:rPr>
              <a:t>Crear / Ejecutar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6299" y="2352861"/>
            <a:ext cx="232410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s-CO" sz="1400" b="0" i="0" u="none" noProof="1">
                <a:solidFill>
                  <a:srgbClr val="94A3B8"/>
                </a:solidFill>
                <a:latin typeface="Plus Jakarta Sans"/>
              </a:rPr>
              <a:t>Envía datos nuevos para procesar, guardar registros o activar acciones.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0234" y="1725252"/>
            <a:ext cx="4476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b="1" i="0" u="none" noProof="1">
                <a:solidFill>
                  <a:srgbClr val="F59E0B"/>
                </a:solidFill>
                <a:latin typeface="Plus Jakarta Sans"/>
              </a:rPr>
              <a:t>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7599" y="2076636"/>
            <a:ext cx="94923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b="1" i="0" u="none" noProof="1">
                <a:solidFill>
                  <a:srgbClr val="FFFFFF"/>
                </a:solidFill>
                <a:latin typeface="Plus Jakarta Sans"/>
              </a:rPr>
              <a:t>Actualizar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7599" y="2352861"/>
            <a:ext cx="232410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s-CO" sz="1400" b="0" i="0" u="none" noProof="1">
                <a:solidFill>
                  <a:srgbClr val="94A3B8"/>
                </a:solidFill>
                <a:latin typeface="Plus Jakarta Sans"/>
              </a:rPr>
              <a:t>Reemplaza o actualiza completamente la información de un recurso.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4069" y="1732031"/>
            <a:ext cx="72595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b="1" i="0" u="none" noProof="1">
                <a:solidFill>
                  <a:srgbClr val="EF4444"/>
                </a:solidFill>
                <a:latin typeface="Plus Jakarta Sans"/>
              </a:rPr>
              <a:t>DELETE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78899" y="2076636"/>
            <a:ext cx="78707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b="1" i="0" u="none" noProof="1">
                <a:solidFill>
                  <a:srgbClr val="FFFFFF"/>
                </a:solidFill>
                <a:latin typeface="Plus Jakarta Sans"/>
              </a:rPr>
              <a:t>Eliminar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78899" y="2352861"/>
            <a:ext cx="23241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s-CO" sz="1400" b="0" i="0" u="none" noProof="1">
                <a:solidFill>
                  <a:srgbClr val="94A3B8"/>
                </a:solidFill>
                <a:latin typeface="Plus Jakarta Sans"/>
              </a:rPr>
              <a:t>Remueve o elimina un registro específico del servidor.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14061" y="4390674"/>
            <a:ext cx="184523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400" b="1" i="0" u="none" noProof="1">
                <a:solidFill>
                  <a:srgbClr val="CBD5E1"/>
                </a:solidFill>
                <a:latin typeface="Plus Jakarta Sans"/>
              </a:rPr>
              <a:t>PATCH (Edición parcial)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47777" y="4796656"/>
            <a:ext cx="219782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400" b="1" i="0" u="none" noProof="1">
                <a:solidFill>
                  <a:srgbClr val="CBD5E1"/>
                </a:solidFill>
                <a:latin typeface="Plus Jakarta Sans"/>
              </a:rPr>
              <a:t>OPTIONS (Permisos / CORS)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59529" y="5164470"/>
            <a:ext cx="174998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400" b="1" i="0" u="none" noProof="1">
                <a:solidFill>
                  <a:srgbClr val="CBD5E1"/>
                </a:solidFill>
                <a:latin typeface="Plus Jakarta Sans"/>
              </a:rPr>
              <a:t>HEAD (Solo metadatos)</a:t>
            </a:r>
          </a:p>
        </p:txBody>
      </p:sp>
      <p:graphicFrame>
        <p:nvGraphicFramePr>
          <p:cNvPr id="49" name="Tabla 48">
            <a:extLst>
              <a:ext uri="{FF2B5EF4-FFF2-40B4-BE49-F238E27FC236}">
                <a16:creationId xmlns:a16="http://schemas.microsoft.com/office/drawing/2014/main" id="{49E3E3F1-1753-17B6-C5C9-52A15FA464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808998"/>
              </p:ext>
            </p:extLst>
          </p:nvPr>
        </p:nvGraphicFramePr>
        <p:xfrm>
          <a:off x="1284275" y="3679560"/>
          <a:ext cx="4283048" cy="2560320"/>
        </p:xfrm>
        <a:graphic>
          <a:graphicData uri="http://schemas.openxmlformats.org/drawingml/2006/table">
            <a:tbl>
              <a:tblPr>
                <a:solidFill>
                  <a:schemeClr val="tx2">
                    <a:lumMod val="50000"/>
                  </a:schemeClr>
                </a:solidFill>
                <a:tableStyleId>{8FD4443E-F989-4FC4-A0C8-D5A2AF1F390B}</a:tableStyleId>
              </a:tblPr>
              <a:tblGrid>
                <a:gridCol w="1573225">
                  <a:extLst>
                    <a:ext uri="{9D8B030D-6E8A-4147-A177-3AD203B41FA5}">
                      <a16:colId xmlns:a16="http://schemas.microsoft.com/office/drawing/2014/main" val="1385050175"/>
                    </a:ext>
                  </a:extLst>
                </a:gridCol>
                <a:gridCol w="2709823">
                  <a:extLst>
                    <a:ext uri="{9D8B030D-6E8A-4147-A177-3AD203B41FA5}">
                      <a16:colId xmlns:a16="http://schemas.microsoft.com/office/drawing/2014/main" val="9569855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noProof="1"/>
                        <a:t>Código HTTP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8E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noProof="1"/>
                        <a:t>Significado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8E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249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noProof="1"/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noProof="1"/>
                        <a:t>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415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noProof="1"/>
                        <a:t>201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noProof="1"/>
                        <a:t>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398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noProof="1"/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noProof="1"/>
                        <a:t>Bad Request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966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noProof="1"/>
                        <a:t>401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noProof="1"/>
                        <a:t>Unauthorized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696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noProof="1"/>
                        <a:t>404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noProof="1"/>
                        <a:t>Not Found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614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noProof="1"/>
                        <a:t>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noProof="1"/>
                        <a:t>Internal Server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2028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76252" y="1578315"/>
            <a:ext cx="11087100" cy="1976437"/>
          </a:xfrm>
          <a:prstGeom prst="roundRect">
            <a:avLst>
              <a:gd name="adj" fmla="val 578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1"/>
          </a:p>
        </p:txBody>
      </p:sp>
      <p:sp>
        <p:nvSpPr>
          <p:cNvPr id="3" name="Rounded Rectangle 2"/>
          <p:cNvSpPr/>
          <p:nvPr/>
        </p:nvSpPr>
        <p:spPr>
          <a:xfrm>
            <a:off x="476252" y="4055608"/>
            <a:ext cx="11087100" cy="1976437"/>
          </a:xfrm>
          <a:prstGeom prst="roundRect">
            <a:avLst>
              <a:gd name="adj" fmla="val 578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1"/>
          </a:p>
        </p:txBody>
      </p:sp>
      <p:sp>
        <p:nvSpPr>
          <p:cNvPr id="4" name="Rounded Rectangle 3"/>
          <p:cNvSpPr/>
          <p:nvPr/>
        </p:nvSpPr>
        <p:spPr>
          <a:xfrm>
            <a:off x="714376" y="2435565"/>
            <a:ext cx="10655359" cy="881062"/>
          </a:xfrm>
          <a:prstGeom prst="roundRect">
            <a:avLst>
              <a:gd name="adj" fmla="val 8648"/>
            </a:avLst>
          </a:prstGeom>
          <a:solidFill>
            <a:srgbClr val="03071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1"/>
          </a:p>
        </p:txBody>
      </p:sp>
      <p:sp>
        <p:nvSpPr>
          <p:cNvPr id="5" name="Rounded Rectangle 4"/>
          <p:cNvSpPr/>
          <p:nvPr/>
        </p:nvSpPr>
        <p:spPr>
          <a:xfrm>
            <a:off x="714377" y="4912858"/>
            <a:ext cx="10610850" cy="881062"/>
          </a:xfrm>
          <a:prstGeom prst="roundRect">
            <a:avLst>
              <a:gd name="adj" fmla="val 8648"/>
            </a:avLst>
          </a:prstGeom>
          <a:solidFill>
            <a:srgbClr val="03071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1"/>
          </a:p>
        </p:txBody>
      </p:sp>
      <p:sp>
        <p:nvSpPr>
          <p:cNvPr id="6" name="Rounded Rectangle 5"/>
          <p:cNvSpPr/>
          <p:nvPr/>
        </p:nvSpPr>
        <p:spPr>
          <a:xfrm>
            <a:off x="9436336" y="1816440"/>
            <a:ext cx="1743502" cy="381000"/>
          </a:xfrm>
          <a:prstGeom prst="roundRect">
            <a:avLst>
              <a:gd name="adj" fmla="val 21052"/>
            </a:avLst>
          </a:prstGeom>
          <a:solidFill>
            <a:srgbClr val="20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1"/>
          </a:p>
        </p:txBody>
      </p:sp>
      <p:sp>
        <p:nvSpPr>
          <p:cNvPr id="7" name="Rounded Rectangle 6"/>
          <p:cNvSpPr/>
          <p:nvPr/>
        </p:nvSpPr>
        <p:spPr>
          <a:xfrm>
            <a:off x="9436336" y="4309152"/>
            <a:ext cx="1743501" cy="314325"/>
          </a:xfrm>
          <a:prstGeom prst="roundRect">
            <a:avLst>
              <a:gd name="adj" fmla="val 21052"/>
            </a:avLst>
          </a:prstGeom>
          <a:solidFill>
            <a:srgbClr val="21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1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7" y="1854540"/>
            <a:ext cx="204556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7" y="4331833"/>
            <a:ext cx="15240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1050" b="1" i="0" u="none" noProof="1">
                <a:solidFill>
                  <a:srgbClr val="38BDF8"/>
                </a:solidFill>
                <a:latin typeface="Plus Jakarta Sans"/>
              </a:rPr>
              <a:t>CASOS DE USO EN LA INDUSTRIA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8633774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3200" b="1" i="0" u="none" noProof="1">
                <a:solidFill>
                  <a:srgbClr val="FFFFFF"/>
                </a:solidFill>
                <a:latin typeface="Plus Jakarta Sans"/>
              </a:rPr>
              <a:t>Consumo</a:t>
            </a:r>
            <a:r>
              <a:rPr lang="es-CO" sz="2400" b="1" i="0" u="none" noProof="1">
                <a:solidFill>
                  <a:srgbClr val="FFFFFF"/>
                </a:solidFill>
                <a:latin typeface="Plus Jakarta Sans"/>
              </a:rPr>
              <a:t> </a:t>
            </a:r>
            <a:r>
              <a:rPr lang="es-CO" sz="3200" b="1" i="0" u="none" noProof="1">
                <a:solidFill>
                  <a:srgbClr val="FFFFFF"/>
                </a:solidFill>
                <a:latin typeface="Plus Jakarta Sans"/>
              </a:rPr>
              <a:t>de Información vs. Ejecución de Acciones</a:t>
            </a:r>
            <a:endParaRPr lang="es-CO" sz="2400" b="1" i="0" u="none" noProof="1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4377" y="2149815"/>
            <a:ext cx="678179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600" b="0" i="0" u="none" noProof="1">
                <a:solidFill>
                  <a:srgbClr val="CBD5E1"/>
                </a:solidFill>
                <a:latin typeface="Plus Jakarta Sans"/>
              </a:rPr>
              <a:t>Enviamos un texto y recibimos una </a:t>
            </a:r>
            <a:r>
              <a:rPr lang="es-CO" b="0" i="0" u="none" noProof="1">
                <a:solidFill>
                  <a:srgbClr val="CBD5E1"/>
                </a:solidFill>
                <a:latin typeface="Plus Jakarta Sans"/>
              </a:rPr>
              <a:t>respuesta</a:t>
            </a:r>
            <a:r>
              <a:rPr lang="es-CO" sz="1600" b="0" i="0" u="none" noProof="1">
                <a:solidFill>
                  <a:srgbClr val="CBD5E1"/>
                </a:solidFill>
                <a:latin typeface="Plus Jakarta Sans"/>
              </a:rPr>
              <a:t> procesada por el modelo LLM.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7" y="2587965"/>
            <a:ext cx="10145906" cy="565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s-CO" sz="975" b="0" i="0" u="none" noProof="1">
                <a:solidFill>
                  <a:srgbClr val="3FFFD1"/>
                </a:solidFill>
                <a:latin typeface="Fira Code"/>
              </a:rPr>
              <a:t>// Request POST /v1/chat/completions { "model": "gpt-5", "input": "Resume este documento" }</a:t>
            </a:r>
          </a:p>
          <a:p>
            <a:pPr algn="l">
              <a:lnSpc>
                <a:spcPts val="1462"/>
              </a:lnSpc>
            </a:pPr>
            <a:r>
              <a:rPr lang="es-CO" sz="975" b="0" i="0" u="none" noProof="1">
                <a:solidFill>
                  <a:srgbClr val="3FFFD1"/>
                </a:solidFill>
                <a:latin typeface="Fira Code"/>
              </a:rPr>
              <a:t> </a:t>
            </a:r>
          </a:p>
          <a:p>
            <a:pPr algn="l">
              <a:lnSpc>
                <a:spcPts val="1462"/>
              </a:lnSpc>
            </a:pPr>
            <a:r>
              <a:rPr lang="es-CO" sz="975" b="0" i="0" u="none" noProof="1">
                <a:solidFill>
                  <a:srgbClr val="3FFFD1"/>
                </a:solidFill>
                <a:latin typeface="Fira Code"/>
              </a:rPr>
              <a:t>// Response { "output_text": "Resumen generado..."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7" y="4627108"/>
            <a:ext cx="675325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b="0" i="0" u="none" noProof="1">
                <a:solidFill>
                  <a:srgbClr val="CBD5E1"/>
                </a:solidFill>
                <a:latin typeface="Plus Jakarta Sans"/>
              </a:rPr>
              <a:t>No solo consultamos datos: activamos un proceso o pipeline en la nube.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7" y="5065258"/>
            <a:ext cx="9467850" cy="565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s-CO" sz="975" b="0" i="0" u="none" noProof="1">
                <a:solidFill>
                  <a:srgbClr val="3FFFD1"/>
                </a:solidFill>
                <a:latin typeface="Fira Code"/>
              </a:rPr>
              <a:t>// Request requests.post("/api/2.1/jobs/run-now", json={"job_id": 98123} )</a:t>
            </a:r>
          </a:p>
          <a:p>
            <a:pPr algn="l">
              <a:lnSpc>
                <a:spcPts val="1462"/>
              </a:lnSpc>
            </a:pPr>
            <a:r>
              <a:rPr lang="es-CO" sz="975" b="0" i="0" u="none" noProof="1">
                <a:solidFill>
                  <a:srgbClr val="3FFFD1"/>
                </a:solidFill>
                <a:latin typeface="Fira Code"/>
              </a:rPr>
              <a:t> </a:t>
            </a:r>
          </a:p>
          <a:p>
            <a:pPr algn="l">
              <a:lnSpc>
                <a:spcPts val="1462"/>
              </a:lnSpc>
            </a:pPr>
            <a:r>
              <a:rPr lang="es-CO" sz="975" b="0" i="0" u="none" noProof="1">
                <a:solidFill>
                  <a:srgbClr val="3FFFD1"/>
                </a:solidFill>
                <a:latin typeface="Fira Code"/>
              </a:rPr>
              <a:t>// Response { "run_id": "12345", "status": "PENDING"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7" y="1796209"/>
            <a:ext cx="2505687" cy="276999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/>
            <a:r>
              <a:rPr lang="es-CO" b="1" i="0" u="none" noProof="1">
                <a:solidFill>
                  <a:srgbClr val="A855F7"/>
                </a:solidFill>
                <a:latin typeface="Plus Jakarta Sans"/>
              </a:rPr>
              <a:t>OpenAI: Inferencia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5525" y="1889717"/>
            <a:ext cx="169042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400" b="0" i="0" u="none" noProof="1">
                <a:solidFill>
                  <a:srgbClr val="34D399"/>
                </a:solidFill>
                <a:latin typeface="Plus Jakarta Sans"/>
              </a:rPr>
              <a:t>Consulta / Generación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4" y="4293733"/>
            <a:ext cx="2439010" cy="276999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r>
              <a:rPr lang="es-CO" b="1" i="0" u="none" noProof="1">
                <a:solidFill>
                  <a:srgbClr val="F97316"/>
                </a:solidFill>
                <a:latin typeface="Plus Jakarta Sans"/>
              </a:rPr>
              <a:t>Databricks: Acción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7782" y="4325912"/>
            <a:ext cx="138112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600" b="0" i="0" u="none" noProof="1">
                <a:solidFill>
                  <a:srgbClr val="38BDF8"/>
                </a:solidFill>
                <a:latin typeface="Plus Jakarta Sans"/>
              </a:rPr>
              <a:t>Ejecución de Job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24125"/>
            <a:ext cx="2072580" cy="2667000"/>
          </a:xfrm>
          <a:prstGeom prst="roundRect">
            <a:avLst>
              <a:gd name="adj" fmla="val 55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noProof="1"/>
          </a:p>
        </p:txBody>
      </p:sp>
      <p:sp>
        <p:nvSpPr>
          <p:cNvPr id="3" name="Rounded Rectangle 2"/>
          <p:cNvSpPr/>
          <p:nvPr/>
        </p:nvSpPr>
        <p:spPr>
          <a:xfrm>
            <a:off x="2834580" y="2524125"/>
            <a:ext cx="2072580" cy="2667000"/>
          </a:xfrm>
          <a:prstGeom prst="roundRect">
            <a:avLst>
              <a:gd name="adj" fmla="val 55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noProof="1"/>
          </a:p>
        </p:txBody>
      </p:sp>
      <p:sp>
        <p:nvSpPr>
          <p:cNvPr id="4" name="Rounded Rectangle 3"/>
          <p:cNvSpPr/>
          <p:nvPr/>
        </p:nvSpPr>
        <p:spPr>
          <a:xfrm>
            <a:off x="5059560" y="2524125"/>
            <a:ext cx="2072729" cy="2667000"/>
          </a:xfrm>
          <a:prstGeom prst="roundRect">
            <a:avLst>
              <a:gd name="adj" fmla="val 55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noProof="1"/>
          </a:p>
        </p:txBody>
      </p:sp>
      <p:sp>
        <p:nvSpPr>
          <p:cNvPr id="5" name="Rounded Rectangle 4"/>
          <p:cNvSpPr/>
          <p:nvPr/>
        </p:nvSpPr>
        <p:spPr>
          <a:xfrm>
            <a:off x="7284690" y="2524125"/>
            <a:ext cx="2072580" cy="2667000"/>
          </a:xfrm>
          <a:prstGeom prst="roundRect">
            <a:avLst>
              <a:gd name="adj" fmla="val 55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noProof="1"/>
          </a:p>
        </p:txBody>
      </p:sp>
      <p:sp>
        <p:nvSpPr>
          <p:cNvPr id="6" name="Rounded Rectangle 5"/>
          <p:cNvSpPr/>
          <p:nvPr/>
        </p:nvSpPr>
        <p:spPr>
          <a:xfrm>
            <a:off x="9509670" y="2524125"/>
            <a:ext cx="2072729" cy="2667000"/>
          </a:xfrm>
          <a:prstGeom prst="roundRect">
            <a:avLst>
              <a:gd name="adj" fmla="val 55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noProof="1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4" y="2867288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344" y="2867288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325" y="2867288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54" y="2887495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7434" y="2867288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6901" y="3000638"/>
            <a:ext cx="2381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5694" y="3000638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0675" y="3000638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49616" y="3020845"/>
            <a:ext cx="14287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50784" y="3000638"/>
            <a:ext cx="19050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1050" b="1" i="0" u="none" noProof="1">
                <a:solidFill>
                  <a:srgbClr val="38BDF8"/>
                </a:solidFill>
                <a:latin typeface="Plus Jakarta Sans"/>
              </a:rPr>
              <a:t>ESTRUCTURA 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04850"/>
            <a:ext cx="5938292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3200" b="1" i="0" u="none" noProof="1">
                <a:solidFill>
                  <a:srgbClr val="FFFFFF"/>
                </a:solidFill>
                <a:latin typeface="Plus Jakarta Sans"/>
              </a:rPr>
              <a:t>Los 5 Pilares</a:t>
            </a:r>
            <a:r>
              <a:rPr lang="es-CO" sz="2400" b="1" i="0" u="none" noProof="1">
                <a:solidFill>
                  <a:srgbClr val="FFFFFF"/>
                </a:solidFill>
                <a:latin typeface="Plus Jakarta Sans"/>
              </a:rPr>
              <a:t> </a:t>
            </a:r>
            <a:r>
              <a:rPr lang="es-CO" sz="3200" b="1" i="0" u="none" noProof="1">
                <a:solidFill>
                  <a:srgbClr val="FFFFFF"/>
                </a:solidFill>
                <a:latin typeface="Plus Jakarta Sans"/>
              </a:rPr>
              <a:t>para Trabajar con APIs</a:t>
            </a:r>
            <a:endParaRPr lang="es-CO" sz="2400" b="1" i="0" u="none" noProof="1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95543" y="3457838"/>
            <a:ext cx="121911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2000" b="1" i="0" u="none" noProof="1">
                <a:solidFill>
                  <a:srgbClr val="FFFFFF"/>
                </a:solidFill>
                <a:latin typeface="Plus Jakarta Sans"/>
              </a:rPr>
              <a:t>1. Endpoint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662" y="4092285"/>
            <a:ext cx="1602754" cy="73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lang="es-CO" b="0" i="0" u="none" noProof="1">
                <a:solidFill>
                  <a:srgbClr val="94A3B8"/>
                </a:solidFill>
                <a:latin typeface="Plus Jakarta Sans"/>
              </a:rPr>
              <a:t>Dirección específica URL que expone una funcionalidad.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822" y="3476888"/>
            <a:ext cx="112024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2000" b="1" i="0" u="none" noProof="1">
                <a:solidFill>
                  <a:srgbClr val="FFFFFF"/>
                </a:solidFill>
                <a:latin typeface="Plus Jakarta Sans"/>
              </a:rPr>
              <a:t>2. 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6162" y="4092284"/>
            <a:ext cx="1716338" cy="73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lang="es-CO" noProof="1">
                <a:solidFill>
                  <a:srgbClr val="94A3B8"/>
                </a:solidFill>
                <a:latin typeface="Plus Jakarta Sans"/>
              </a:rPr>
              <a:t>Conjunto</a:t>
            </a:r>
            <a:r>
              <a:rPr lang="es-CO" b="0" i="0" u="none" noProof="1">
                <a:solidFill>
                  <a:srgbClr val="94A3B8"/>
                </a:solidFill>
                <a:latin typeface="Plus Jakarta Sans"/>
              </a:rPr>
              <a:t> de datos e instrucciones enviadas al servidor.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217" y="3476888"/>
            <a:ext cx="127541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2000" b="1" i="0" u="none" noProof="1">
                <a:solidFill>
                  <a:srgbClr val="FFFFFF"/>
                </a:solidFill>
                <a:latin typeface="Plus Jakarta Sans"/>
              </a:rPr>
              <a:t>3.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7614" y="4092283"/>
            <a:ext cx="1928074" cy="73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lang="es-CO" b="0" i="0" u="none" noProof="1">
                <a:solidFill>
                  <a:srgbClr val="94A3B8"/>
                </a:solidFill>
                <a:latin typeface="Plus Jakarta Sans"/>
              </a:rPr>
              <a:t>Respuesta y resultado entregado tras procesar la petición.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18700" y="3497095"/>
            <a:ext cx="80470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2000" b="1" i="0" u="none" noProof="1">
                <a:solidFill>
                  <a:srgbClr val="FFFFFF"/>
                </a:solidFill>
                <a:latin typeface="Plus Jakarta Sans"/>
              </a:rPr>
              <a:t>4.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2350" y="4092285"/>
            <a:ext cx="1905065" cy="740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lang="es-CO" b="0" i="0" u="none" noProof="1">
                <a:solidFill>
                  <a:srgbClr val="94A3B8"/>
                </a:solidFill>
                <a:latin typeface="Plus Jakarta Sans"/>
              </a:rPr>
              <a:t>Formato estándar universal para intercambio de datos.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5236" y="3476888"/>
            <a:ext cx="116160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2000" b="1" i="0" u="none" noProof="1">
                <a:solidFill>
                  <a:srgbClr val="FFFFFF"/>
                </a:solidFill>
                <a:latin typeface="Plus Jakarta Sans"/>
              </a:rPr>
              <a:t>5. API Keys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97259" y="4092285"/>
            <a:ext cx="1899481" cy="740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lang="es-CO" b="0" i="0" u="none" noProof="1">
                <a:solidFill>
                  <a:srgbClr val="94A3B8"/>
                </a:solidFill>
                <a:latin typeface="Plus Jakarta Sans"/>
              </a:rPr>
              <a:t>Credenciales de seguridad para identificar y autorizar accesos.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66171" y="1548766"/>
            <a:ext cx="4143982" cy="2522990"/>
          </a:xfrm>
          <a:prstGeom prst="roundRect">
            <a:avLst>
              <a:gd name="adj" fmla="val 594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noProof="1"/>
          </a:p>
        </p:txBody>
      </p:sp>
      <p:sp>
        <p:nvSpPr>
          <p:cNvPr id="3" name="Rounded Rectangle 2"/>
          <p:cNvSpPr/>
          <p:nvPr/>
        </p:nvSpPr>
        <p:spPr>
          <a:xfrm>
            <a:off x="1460148" y="1889217"/>
            <a:ext cx="4335651" cy="1695450"/>
          </a:xfrm>
          <a:prstGeom prst="roundRect">
            <a:avLst>
              <a:gd name="adj" fmla="val 594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4" name="Rounded Rectangle 3"/>
          <p:cNvSpPr/>
          <p:nvPr/>
        </p:nvSpPr>
        <p:spPr>
          <a:xfrm>
            <a:off x="1724025" y="4414189"/>
            <a:ext cx="8743950" cy="2063531"/>
          </a:xfrm>
          <a:prstGeom prst="roundRect">
            <a:avLst>
              <a:gd name="adj" fmla="val 7881"/>
            </a:avLst>
          </a:prstGeom>
          <a:solidFill>
            <a:srgbClr val="03071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1"/>
          </a:p>
        </p:txBody>
      </p:sp>
      <p:sp>
        <p:nvSpPr>
          <p:cNvPr id="5" name="Rounded Rectangle 4"/>
          <p:cNvSpPr/>
          <p:nvPr/>
        </p:nvSpPr>
        <p:spPr>
          <a:xfrm>
            <a:off x="6931374" y="2225041"/>
            <a:ext cx="3282361" cy="42057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noProof="1"/>
          </a:p>
        </p:txBody>
      </p:sp>
      <p:sp>
        <p:nvSpPr>
          <p:cNvPr id="6" name="Rounded Rectangle 5"/>
          <p:cNvSpPr/>
          <p:nvPr/>
        </p:nvSpPr>
        <p:spPr>
          <a:xfrm>
            <a:off x="6931374" y="2815591"/>
            <a:ext cx="3282361" cy="42057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noProof="1"/>
          </a:p>
        </p:txBody>
      </p:sp>
      <p:sp>
        <p:nvSpPr>
          <p:cNvPr id="7" name="Rounded Rectangle 6"/>
          <p:cNvSpPr/>
          <p:nvPr/>
        </p:nvSpPr>
        <p:spPr>
          <a:xfrm>
            <a:off x="6931374" y="3406141"/>
            <a:ext cx="3282361" cy="42057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noProof="1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1050" b="1" i="0" u="none" noProof="1">
                <a:solidFill>
                  <a:srgbClr val="38BDF8"/>
                </a:solidFill>
                <a:latin typeface="Plus Jakarta Sans"/>
              </a:rPr>
              <a:t>PILAR 1 &amp;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5720861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3200" b="1" i="0" u="none" noProof="1">
                <a:solidFill>
                  <a:srgbClr val="FFFFFF"/>
                </a:solidFill>
                <a:latin typeface="Plus Jakarta Sans"/>
              </a:rPr>
              <a:t>Endpoint</a:t>
            </a:r>
            <a:r>
              <a:rPr lang="es-CO" sz="2400" b="1" i="0" u="none" noProof="1">
                <a:solidFill>
                  <a:srgbClr val="FFFFFF"/>
                </a:solidFill>
                <a:latin typeface="Plus Jakarta Sans"/>
              </a:rPr>
              <a:t> </a:t>
            </a:r>
            <a:r>
              <a:rPr lang="es-CO" sz="3200" b="1" i="0" u="none" noProof="1">
                <a:solidFill>
                  <a:srgbClr val="FFFFFF"/>
                </a:solidFill>
                <a:latin typeface="Plus Jakarta Sans"/>
              </a:rPr>
              <a:t>&amp; Request en la Práctica</a:t>
            </a:r>
            <a:endParaRPr lang="es-CO" sz="2400" b="1" i="0" u="none" noProof="1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24025" y="4121058"/>
            <a:ext cx="318689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1600" b="1" i="0" u="none" noProof="1">
                <a:solidFill>
                  <a:srgbClr val="94A3B8"/>
                </a:solidFill>
                <a:latin typeface="Plus Jakarta Sans"/>
              </a:rPr>
              <a:t>Estructura típica de un Request POST: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8548" y="4566589"/>
            <a:ext cx="8591550" cy="1732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s-CO" sz="1125" b="0" i="0" u="none" noProof="1">
                <a:solidFill>
                  <a:srgbClr val="3FFFD1"/>
                </a:solidFill>
                <a:latin typeface="Fira Code"/>
              </a:rPr>
              <a:t>// Método y Endpoint </a:t>
            </a:r>
          </a:p>
          <a:p>
            <a:pPr algn="l">
              <a:lnSpc>
                <a:spcPts val="1687"/>
              </a:lnSpc>
            </a:pPr>
            <a:r>
              <a:rPr lang="es-CO" sz="1125" b="0" i="0" u="none" noProof="1">
                <a:solidFill>
                  <a:srgbClr val="3FFFD1"/>
                </a:solidFill>
                <a:latin typeface="Fira Code"/>
              </a:rPr>
              <a:t>POST /api/v1/summarize</a:t>
            </a:r>
          </a:p>
          <a:p>
            <a:pPr algn="l">
              <a:lnSpc>
                <a:spcPts val="1687"/>
              </a:lnSpc>
            </a:pPr>
            <a:endParaRPr lang="es-CO" sz="1125" b="0" i="0" u="none" noProof="1">
              <a:solidFill>
                <a:srgbClr val="3FFFD1"/>
              </a:solidFill>
              <a:latin typeface="Fira Code"/>
            </a:endParaRPr>
          </a:p>
          <a:p>
            <a:pPr algn="l">
              <a:lnSpc>
                <a:spcPts val="1687"/>
              </a:lnSpc>
            </a:pPr>
            <a:r>
              <a:rPr lang="es-CO" sz="1125" b="0" i="0" u="none" noProof="1">
                <a:solidFill>
                  <a:srgbClr val="3FFFD1"/>
                </a:solidFill>
                <a:latin typeface="Fira Code"/>
              </a:rPr>
              <a:t>// Headers (Encabezados)</a:t>
            </a:r>
          </a:p>
          <a:p>
            <a:pPr algn="l">
              <a:lnSpc>
                <a:spcPts val="1687"/>
              </a:lnSpc>
            </a:pPr>
            <a:r>
              <a:rPr lang="es-CO" sz="1125" b="0" i="0" u="none" noProof="1">
                <a:solidFill>
                  <a:srgbClr val="3FFFD1"/>
                </a:solidFill>
                <a:latin typeface="Fira Code"/>
              </a:rPr>
              <a:t>Content-Type: application/json Authorization: Bearer OPENAI_API_KEY</a:t>
            </a:r>
          </a:p>
          <a:p>
            <a:pPr algn="l">
              <a:lnSpc>
                <a:spcPts val="1687"/>
              </a:lnSpc>
            </a:pPr>
            <a:endParaRPr lang="es-CO" sz="1125" b="0" i="0" u="none" noProof="1">
              <a:solidFill>
                <a:srgbClr val="3FFFD1"/>
              </a:solidFill>
              <a:latin typeface="Fira Code"/>
            </a:endParaRPr>
          </a:p>
          <a:p>
            <a:pPr algn="l">
              <a:lnSpc>
                <a:spcPts val="1687"/>
              </a:lnSpc>
            </a:pPr>
            <a:r>
              <a:rPr lang="es-CO" sz="1125" b="0" i="0" u="none" noProof="1">
                <a:solidFill>
                  <a:srgbClr val="3FFFD1"/>
                </a:solidFill>
                <a:latin typeface="Fira Code"/>
              </a:rPr>
              <a:t>// Body (Cuerpo del mensaje) </a:t>
            </a:r>
          </a:p>
          <a:p>
            <a:pPr algn="l">
              <a:lnSpc>
                <a:spcPts val="1687"/>
              </a:lnSpc>
            </a:pPr>
            <a:r>
              <a:rPr lang="es-CO" sz="1125" b="0" i="0" u="none" noProof="1">
                <a:solidFill>
                  <a:srgbClr val="3FFFD1"/>
                </a:solidFill>
                <a:latin typeface="Fira Code"/>
              </a:rPr>
              <a:t>{"text": "Ventas LATAM crecieron un 15% durante el último trimestre."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617" y="1748790"/>
            <a:ext cx="366188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600" b="1" i="0" u="none" noProof="1">
                <a:solidFill>
                  <a:srgbClr val="38BDF8"/>
                </a:solidFill>
                <a:latin typeface="Plus Jakarta Sans"/>
              </a:rPr>
              <a:t>Ejemplos Reales de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8595" y="2089242"/>
            <a:ext cx="383125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b="1" i="0" u="none" noProof="1">
                <a:solidFill>
                  <a:srgbClr val="34D399"/>
                </a:solidFill>
                <a:latin typeface="Plus Jakarta Sans"/>
              </a:rPr>
              <a:t>¿Qué contiene un Request?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6109" y="2565491"/>
            <a:ext cx="3831255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s-CO" sz="1600" b="0" i="0" u="none" noProof="1">
                <a:solidFill>
                  <a:srgbClr val="CBD5E1"/>
                </a:solidFill>
                <a:latin typeface="Plus Jakarta Sans"/>
              </a:rPr>
              <a:t>Incluye la ruta del endpoint, el método HTTP (POST/GET), los encabezados de autenticación (Headers) y el cuerpo con la información necesaria (Body).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0732" y="2301240"/>
            <a:ext cx="299515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200" b="0" i="0" u="none" noProof="1">
                <a:solidFill>
                  <a:srgbClr val="A855F7"/>
                </a:solidFill>
                <a:latin typeface="Fira Code"/>
              </a:rPr>
              <a:t>/chat/completions</a:t>
            </a:r>
            <a:r>
              <a:rPr lang="es-CO" sz="1200" b="0" i="0" u="none" noProof="1">
                <a:solidFill>
                  <a:srgbClr val="CBD5E1"/>
                </a:solidFill>
                <a:latin typeface="Fira Code"/>
              </a:rPr>
              <a:t> (OpenAI)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0732" y="2891790"/>
            <a:ext cx="299515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200" b="0" i="0" u="none" noProof="1">
                <a:solidFill>
                  <a:srgbClr val="F97316"/>
                </a:solidFill>
                <a:latin typeface="Fira Code"/>
              </a:rPr>
              <a:t>/jobs/run-now</a:t>
            </a:r>
            <a:r>
              <a:rPr lang="es-CO" sz="1200" b="0" i="0" u="none" noProof="1">
                <a:solidFill>
                  <a:srgbClr val="CBD5E1"/>
                </a:solidFill>
                <a:latin typeface="Fira Code"/>
              </a:rPr>
              <a:t> (Databricks)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732" y="3482340"/>
            <a:ext cx="299515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200" b="0" i="0" u="none" noProof="1">
                <a:solidFill>
                  <a:srgbClr val="38BDF8"/>
                </a:solidFill>
                <a:latin typeface="Fira Code"/>
              </a:rPr>
              <a:t>/api/v1/query</a:t>
            </a:r>
            <a:r>
              <a:rPr lang="es-CO" sz="1200" b="0" i="0" u="none" noProof="1">
                <a:solidFill>
                  <a:srgbClr val="CBD5E1"/>
                </a:solidFill>
                <a:latin typeface="Fira Code"/>
              </a:rPr>
              <a:t> (Snowflake)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99101" y="2876066"/>
            <a:ext cx="5689600" cy="2357438"/>
          </a:xfrm>
          <a:prstGeom prst="roundRect">
            <a:avLst>
              <a:gd name="adj" fmla="val 7881"/>
            </a:avLst>
          </a:prstGeom>
          <a:solidFill>
            <a:srgbClr val="03071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1"/>
          </a:p>
        </p:txBody>
      </p:sp>
      <p:sp>
        <p:nvSpPr>
          <p:cNvPr id="3" name="Rounded Rectangle 2"/>
          <p:cNvSpPr/>
          <p:nvPr/>
        </p:nvSpPr>
        <p:spPr>
          <a:xfrm>
            <a:off x="952431" y="2380766"/>
            <a:ext cx="3454469" cy="3133725"/>
          </a:xfrm>
          <a:prstGeom prst="roundRect">
            <a:avLst>
              <a:gd name="adj" fmla="val 510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08" y="3482330"/>
            <a:ext cx="229318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083" y="4188216"/>
            <a:ext cx="229318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479" y="4920122"/>
            <a:ext cx="229317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1050" b="1" i="0" u="none" noProof="1">
                <a:solidFill>
                  <a:srgbClr val="38BDF8"/>
                </a:solidFill>
                <a:latin typeface="Plus Jakarta Sans"/>
              </a:rPr>
              <a:t>PILAR 3 &amp;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6346033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3200" b="1" i="0" u="none" noProof="1">
                <a:solidFill>
                  <a:srgbClr val="FFFFFF"/>
                </a:solidFill>
                <a:latin typeface="Plus Jakarta Sans"/>
              </a:rPr>
              <a:t>Response &amp; JSON: El Idioma Estándar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19750" y="2533166"/>
            <a:ext cx="38036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b="1" i="0" u="none" noProof="1">
                <a:solidFill>
                  <a:srgbClr val="94A3B8"/>
                </a:solidFill>
                <a:latin typeface="Plus Jakarta Sans"/>
              </a:rPr>
              <a:t>Respuesta JSON devuelta por la API: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3028466"/>
            <a:ext cx="5334000" cy="19604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endParaRPr lang="es-CO" sz="1400" b="0" i="0" u="none" noProof="1">
              <a:solidFill>
                <a:srgbClr val="3FFFD1"/>
              </a:solidFill>
              <a:latin typeface="Fira Code"/>
            </a:endParaRPr>
          </a:p>
          <a:p>
            <a:pPr algn="l">
              <a:lnSpc>
                <a:spcPts val="1687"/>
              </a:lnSpc>
            </a:pPr>
            <a:r>
              <a:rPr lang="es-CO" sz="1400" b="0" i="0" u="none" noProof="1">
                <a:solidFill>
                  <a:srgbClr val="3FFFD1"/>
                </a:solidFill>
                <a:latin typeface="Fira Code"/>
              </a:rPr>
              <a:t>// Response JSON</a:t>
            </a:r>
          </a:p>
          <a:p>
            <a:pPr algn="l">
              <a:lnSpc>
                <a:spcPts val="1687"/>
              </a:lnSpc>
            </a:pPr>
            <a:r>
              <a:rPr lang="es-CO" sz="1400" b="0" i="0" u="none" noProof="1">
                <a:solidFill>
                  <a:srgbClr val="3FFFD1"/>
                </a:solidFill>
                <a:latin typeface="Fira Code"/>
              </a:rPr>
              <a:t>{</a:t>
            </a:r>
          </a:p>
          <a:p>
            <a:pPr algn="l">
              <a:lnSpc>
                <a:spcPts val="1687"/>
              </a:lnSpc>
            </a:pPr>
            <a:r>
              <a:rPr lang="es-CO" sz="1400" b="0" i="0" u="none" noProof="1">
                <a:solidFill>
                  <a:srgbClr val="3FFFD1"/>
                </a:solidFill>
                <a:latin typeface="Fira Code"/>
              </a:rPr>
              <a:t>"dataset": "sales_latam",</a:t>
            </a:r>
          </a:p>
          <a:p>
            <a:pPr algn="l">
              <a:lnSpc>
                <a:spcPts val="1687"/>
              </a:lnSpc>
            </a:pPr>
            <a:r>
              <a:rPr lang="es-CO" sz="1400" b="0" i="0" u="none" noProof="1">
                <a:solidFill>
                  <a:srgbClr val="3FFFD1"/>
                </a:solidFill>
                <a:latin typeface="Fira Code"/>
              </a:rPr>
              <a:t>"records": 150000,</a:t>
            </a:r>
          </a:p>
          <a:p>
            <a:pPr algn="l">
              <a:lnSpc>
                <a:spcPts val="1687"/>
              </a:lnSpc>
            </a:pPr>
            <a:r>
              <a:rPr lang="es-CO" sz="1400" b="0" i="0" u="none" noProof="1">
                <a:solidFill>
                  <a:srgbClr val="3FFFD1"/>
                </a:solidFill>
                <a:latin typeface="Fira Code"/>
              </a:rPr>
              <a:t>"status": "active",</a:t>
            </a:r>
          </a:p>
          <a:p>
            <a:pPr algn="l">
              <a:lnSpc>
                <a:spcPts val="1687"/>
              </a:lnSpc>
            </a:pPr>
            <a:r>
              <a:rPr lang="es-CO" sz="1400" b="0" i="0" u="none" noProof="1">
                <a:solidFill>
                  <a:srgbClr val="3FFFD1"/>
                </a:solidFill>
                <a:latin typeface="Fira Code"/>
              </a:rPr>
              <a:t>"summary": "Las ventas crecieron durante el período."</a:t>
            </a:r>
          </a:p>
          <a:p>
            <a:pPr algn="l">
              <a:lnSpc>
                <a:spcPts val="1687"/>
              </a:lnSpc>
            </a:pPr>
            <a:r>
              <a:rPr lang="es-CO" sz="1400" b="0" i="0" u="none" noProof="1">
                <a:solidFill>
                  <a:srgbClr val="3FFFD1"/>
                </a:solidFill>
                <a:latin typeface="Fira Code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299" y="2726341"/>
            <a:ext cx="3307221" cy="276999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/>
            <a:r>
              <a:rPr lang="es-CO" b="1" i="0" u="none" noProof="1">
                <a:solidFill>
                  <a:srgbClr val="F59E0B"/>
                </a:solidFill>
                <a:latin typeface="Plus Jakarta Sans"/>
              </a:rPr>
              <a:t>¿Por qué JSON es tan popular?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7627" y="3310649"/>
            <a:ext cx="2582277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O" sz="1600" b="1" i="0" u="none" noProof="1">
                <a:solidFill>
                  <a:srgbClr val="E2E8F0"/>
                </a:solidFill>
                <a:latin typeface="Plus Jakarta Sans"/>
              </a:rPr>
              <a:t>Fácil de leer:</a:t>
            </a:r>
            <a:r>
              <a:rPr lang="es-CO" sz="1600" b="0" i="0" u="none" noProof="1">
                <a:solidFill>
                  <a:srgbClr val="E2E8F0"/>
                </a:solidFill>
                <a:latin typeface="Plus Jakarta Sans"/>
              </a:rPr>
              <a:t> Estructura simple de clave-valor.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0230" y="4078418"/>
            <a:ext cx="2234348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O" sz="1600" b="1" i="0" u="none" noProof="1">
                <a:solidFill>
                  <a:srgbClr val="E2E8F0"/>
                </a:solidFill>
                <a:latin typeface="Plus Jakarta Sans"/>
              </a:rPr>
              <a:t>Ligero y rápido:</a:t>
            </a:r>
            <a:r>
              <a:rPr lang="es-CO" sz="1600" b="0" i="0" u="none" noProof="1">
                <a:solidFill>
                  <a:srgbClr val="E2E8F0"/>
                </a:solidFill>
                <a:latin typeface="Plus Jakarta Sans"/>
              </a:rPr>
              <a:t> Mínimo costo de transferencia.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6941" y="4790590"/>
            <a:ext cx="2425447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O" sz="1600" b="1" i="0" u="none" noProof="1">
                <a:solidFill>
                  <a:srgbClr val="E2E8F0"/>
                </a:solidFill>
                <a:latin typeface="Plus Jakarta Sans"/>
              </a:rPr>
              <a:t>Universal:</a:t>
            </a:r>
            <a:r>
              <a:rPr lang="es-CO" sz="1600" b="0" i="0" u="none" noProof="1">
                <a:solidFill>
                  <a:srgbClr val="E2E8F0"/>
                </a:solidFill>
                <a:latin typeface="Plus Jakarta Sans"/>
              </a:rPr>
              <a:t> Compatible con Python, JS, SQL, R, Scala, C#.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6676" y="2073919"/>
            <a:ext cx="4470649" cy="2979837"/>
          </a:xfrm>
          <a:prstGeom prst="roundRect">
            <a:avLst>
              <a:gd name="adj" fmla="val 634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1"/>
          </a:p>
        </p:txBody>
      </p:sp>
      <p:sp>
        <p:nvSpPr>
          <p:cNvPr id="3" name="Rounded Rectangle 2"/>
          <p:cNvSpPr/>
          <p:nvPr/>
        </p:nvSpPr>
        <p:spPr>
          <a:xfrm>
            <a:off x="6194678" y="2603443"/>
            <a:ext cx="5095875" cy="230505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4" name="Rounded Rectangle 3"/>
          <p:cNvSpPr/>
          <p:nvPr/>
        </p:nvSpPr>
        <p:spPr>
          <a:xfrm>
            <a:off x="6394703" y="3366931"/>
            <a:ext cx="4695825" cy="352425"/>
          </a:xfrm>
          <a:prstGeom prst="roundRect">
            <a:avLst>
              <a:gd name="adj" fmla="val 1621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5" name="Rounded Rectangle 4"/>
          <p:cNvSpPr/>
          <p:nvPr/>
        </p:nvSpPr>
        <p:spPr>
          <a:xfrm>
            <a:off x="6394703" y="3795556"/>
            <a:ext cx="4695825" cy="352425"/>
          </a:xfrm>
          <a:prstGeom prst="roundRect">
            <a:avLst>
              <a:gd name="adj" fmla="val 1621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6" name="Rounded Rectangle 5"/>
          <p:cNvSpPr/>
          <p:nvPr/>
        </p:nvSpPr>
        <p:spPr>
          <a:xfrm>
            <a:off x="6394703" y="4224181"/>
            <a:ext cx="4695825" cy="352425"/>
          </a:xfrm>
          <a:prstGeom prst="roundRect">
            <a:avLst>
              <a:gd name="adj" fmla="val 1621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703" y="2841568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1" y="3171826"/>
            <a:ext cx="200030" cy="17340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447" y="3755968"/>
            <a:ext cx="217365" cy="23649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83" y="4384963"/>
            <a:ext cx="200030" cy="2364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1050" b="1" i="0" u="none" noProof="1">
                <a:solidFill>
                  <a:srgbClr val="38BDF8"/>
                </a:solidFill>
                <a:latin typeface="Plus Jakarta Sans"/>
              </a:rPr>
              <a:t>PILAR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4879349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3200" b="1" i="0" u="none" noProof="1">
                <a:solidFill>
                  <a:srgbClr val="FFFFFF"/>
                </a:solidFill>
                <a:latin typeface="Plus Jakarta Sans"/>
              </a:rPr>
              <a:t>API Keys y Control de Acceso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4801" y="2312044"/>
            <a:ext cx="40862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2000" b="1" i="0" u="none" noProof="1">
                <a:solidFill>
                  <a:srgbClr val="38BDF8"/>
                </a:solidFill>
                <a:latin typeface="Plus Jakarta Sans"/>
              </a:rPr>
              <a:t>Beneficios de Autenticar con API Keys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4703" y="2803468"/>
            <a:ext cx="2925801" cy="307777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lang="es-CO" sz="2000" b="1" i="0" u="none" noProof="1">
                <a:solidFill>
                  <a:srgbClr val="EC4899"/>
                </a:solidFill>
                <a:latin typeface="Plus Jakarta Sans"/>
              </a:rPr>
              <a:t>Ejemplos de credenciales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6725" y="3038475"/>
            <a:ext cx="392430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O" sz="1600" b="1" i="0" u="none" noProof="1">
                <a:solidFill>
                  <a:srgbClr val="E2E8F0"/>
                </a:solidFill>
                <a:latin typeface="Plus Jakarta Sans"/>
              </a:rPr>
              <a:t>Control de acceso:</a:t>
            </a:r>
            <a:r>
              <a:rPr lang="es-CO" sz="1600" b="0" i="0" u="none" noProof="1">
                <a:solidFill>
                  <a:srgbClr val="E2E8F0"/>
                </a:solidFill>
                <a:latin typeface="Plus Jakarta Sans"/>
              </a:rPr>
              <a:t> Garantiza permisos solo a usuarios autorizados.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6725" y="3647732"/>
            <a:ext cx="3924299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O" sz="1600" b="1" i="0" u="none" noProof="1">
                <a:solidFill>
                  <a:srgbClr val="E2E8F0"/>
                </a:solidFill>
                <a:latin typeface="Plus Jakarta Sans"/>
              </a:rPr>
              <a:t>Límites de consumo (Rate Limiting):</a:t>
            </a:r>
            <a:r>
              <a:rPr lang="es-CO" sz="1600" b="0" i="0" u="none" noProof="1">
                <a:solidFill>
                  <a:srgbClr val="E2E8F0"/>
                </a:solidFill>
                <a:latin typeface="Plus Jakarta Sans"/>
              </a:rPr>
              <a:t> Evita sobrecargas en el servidor.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6725" y="4256990"/>
            <a:ext cx="392430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O" sz="1600" b="1" i="0" u="none" noProof="1">
                <a:solidFill>
                  <a:srgbClr val="E2E8F0"/>
                </a:solidFill>
                <a:latin typeface="Plus Jakarta Sans"/>
              </a:rPr>
              <a:t>Auditoría y trazabilidad:</a:t>
            </a:r>
            <a:r>
              <a:rPr lang="es-CO" sz="1600" b="0" i="0" u="none" noProof="1">
                <a:solidFill>
                  <a:srgbClr val="E2E8F0"/>
                </a:solidFill>
                <a:latin typeface="Plus Jakarta Sans"/>
              </a:rPr>
              <a:t> Registra exactamente quién ejecuta cada solicitud.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053" y="3462181"/>
            <a:ext cx="452437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100" b="0" i="0" u="none" noProof="1">
                <a:solidFill>
                  <a:srgbClr val="CBD5E1"/>
                </a:solidFill>
                <a:latin typeface="Fira Code"/>
              </a:rPr>
              <a:t>OPENAI_API_KEY = "sk-proj-98..."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053" y="3890806"/>
            <a:ext cx="452437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100" b="0" i="0" u="none" noProof="1">
                <a:solidFill>
                  <a:srgbClr val="CBD5E1"/>
                </a:solidFill>
                <a:latin typeface="Fira Code"/>
              </a:rPr>
              <a:t>DATABRICKS_TOKEN = "dapi8721..."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053" y="4319431"/>
            <a:ext cx="452437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100" b="0" i="0" u="none" noProof="1">
                <a:solidFill>
                  <a:srgbClr val="CBD5E1"/>
                </a:solidFill>
                <a:latin typeface="Fira Code"/>
              </a:rPr>
              <a:t>AWS_ACCESS_KEY_ID = "AKIAIOSF..."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644968"/>
            <a:ext cx="10972800" cy="676275"/>
          </a:xfrm>
          <a:prstGeom prst="roundRect">
            <a:avLst>
              <a:gd name="adj" fmla="val 16901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noProof="1"/>
          </a:p>
        </p:txBody>
      </p:sp>
      <p:sp>
        <p:nvSpPr>
          <p:cNvPr id="3" name="Rounded Rectangle 2"/>
          <p:cNvSpPr/>
          <p:nvPr/>
        </p:nvSpPr>
        <p:spPr>
          <a:xfrm>
            <a:off x="1520130" y="2866787"/>
            <a:ext cx="8953500" cy="1528762"/>
          </a:xfrm>
          <a:prstGeom prst="roundRect">
            <a:avLst>
              <a:gd name="adj" fmla="val 747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4" name="Rounded Rectangle 3"/>
          <p:cNvSpPr/>
          <p:nvPr/>
        </p:nvSpPr>
        <p:spPr>
          <a:xfrm>
            <a:off x="2654964" y="4872038"/>
            <a:ext cx="6515100" cy="1528762"/>
          </a:xfrm>
          <a:prstGeom prst="roundRect">
            <a:avLst>
              <a:gd name="adj" fmla="val 747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noProof="1"/>
          </a:p>
        </p:txBody>
      </p:sp>
      <p:sp>
        <p:nvSpPr>
          <p:cNvPr id="5" name="Rounded Rectangle 4"/>
          <p:cNvSpPr/>
          <p:nvPr/>
        </p:nvSpPr>
        <p:spPr>
          <a:xfrm>
            <a:off x="1224855" y="1816418"/>
            <a:ext cx="1238250" cy="333375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noProof="1"/>
          </a:p>
        </p:txBody>
      </p:sp>
      <p:sp>
        <p:nvSpPr>
          <p:cNvPr id="6" name="Rounded Rectangle 5"/>
          <p:cNvSpPr/>
          <p:nvPr/>
        </p:nvSpPr>
        <p:spPr>
          <a:xfrm>
            <a:off x="5276552" y="1778318"/>
            <a:ext cx="2009775" cy="409575"/>
          </a:xfrm>
          <a:prstGeom prst="roundRect">
            <a:avLst>
              <a:gd name="adj" fmla="val 18604"/>
            </a:avLst>
          </a:prstGeom>
          <a:solidFill>
            <a:srgbClr val="15333B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noProof="1"/>
          </a:p>
        </p:txBody>
      </p:sp>
      <p:sp>
        <p:nvSpPr>
          <p:cNvPr id="7" name="Rounded Rectangle 6"/>
          <p:cNvSpPr/>
          <p:nvPr/>
        </p:nvSpPr>
        <p:spPr>
          <a:xfrm>
            <a:off x="9918799" y="1816418"/>
            <a:ext cx="1047750" cy="333375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noProof="1"/>
          </a:p>
        </p:txBody>
      </p:sp>
      <p:sp>
        <p:nvSpPr>
          <p:cNvPr id="8" name="Rounded Rectangle 7"/>
          <p:cNvSpPr/>
          <p:nvPr/>
        </p:nvSpPr>
        <p:spPr>
          <a:xfrm>
            <a:off x="1720155" y="3314462"/>
            <a:ext cx="8553450" cy="881062"/>
          </a:xfrm>
          <a:prstGeom prst="roundRect">
            <a:avLst>
              <a:gd name="adj" fmla="val 8648"/>
            </a:avLst>
          </a:prstGeom>
          <a:solidFill>
            <a:srgbClr val="03071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800" noProof="1"/>
          </a:p>
        </p:txBody>
      </p:sp>
      <p:sp>
        <p:nvSpPr>
          <p:cNvPr id="9" name="Rounded Rectangle 8"/>
          <p:cNvSpPr/>
          <p:nvPr/>
        </p:nvSpPr>
        <p:spPr>
          <a:xfrm>
            <a:off x="2854989" y="5319713"/>
            <a:ext cx="6115050" cy="881062"/>
          </a:xfrm>
          <a:prstGeom prst="roundRect">
            <a:avLst>
              <a:gd name="adj" fmla="val 8648"/>
            </a:avLst>
          </a:prstGeom>
          <a:solidFill>
            <a:srgbClr val="03071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 noProof="1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1050" b="1" i="0" u="none" noProof="1">
                <a:solidFill>
                  <a:srgbClr val="38BDF8"/>
                </a:solidFill>
                <a:latin typeface="Plus Jakarta Sans"/>
              </a:rPr>
              <a:t>PROYECTO DE DEMOSTRACIÓN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8281498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3200" b="1" i="0" u="none" noProof="1">
                <a:solidFill>
                  <a:srgbClr val="FFFFFF"/>
                </a:solidFill>
                <a:latin typeface="Plus Jakarta Sans"/>
              </a:rPr>
              <a:t>Lo que Construiremos: Microservicio con 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7366" y="1897380"/>
            <a:ext cx="151939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1400" b="1" i="0" u="none" noProof="1">
                <a:solidFill>
                  <a:srgbClr val="38BDF8"/>
                </a:solidFill>
                <a:latin typeface="Plus Jakarta Sans"/>
              </a:rPr>
              <a:t>POST /summarize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0588" y="1897380"/>
            <a:ext cx="131504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1400" b="1" i="0" u="none" noProof="1">
                <a:solidFill>
                  <a:srgbClr val="34D399"/>
                </a:solidFill>
                <a:latin typeface="Plus Jakarta Sans"/>
              </a:rPr>
              <a:t>→ Resumen 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2474" y="1892618"/>
            <a:ext cx="124301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O" sz="1400" b="1" i="0" u="none" noProof="1">
                <a:solidFill>
                  <a:srgbClr val="38BDF8"/>
                </a:solidFill>
                <a:latin typeface="Plus Jakarta Sans"/>
              </a:rPr>
              <a:t>Cliente /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5830" y="1873568"/>
            <a:ext cx="213121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O" sz="1600" b="1" i="0" u="none" noProof="1">
                <a:solidFill>
                  <a:srgbClr val="34D399"/>
                </a:solidFill>
                <a:latin typeface="Plus Jakarta Sans"/>
              </a:rPr>
              <a:t>API Microservicio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8324" y="1892618"/>
            <a:ext cx="10287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O" sz="1400" b="1" i="0" u="none" noProof="1">
                <a:solidFill>
                  <a:srgbClr val="F8FAFC"/>
                </a:solidFill>
                <a:latin typeface="Plus Jakarta Sans"/>
              </a:rPr>
              <a:t>Respuesta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0155" y="3020055"/>
            <a:ext cx="185916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b="1" i="0" u="none" noProof="1">
                <a:solidFill>
                  <a:srgbClr val="38BDF8"/>
                </a:solidFill>
                <a:latin typeface="Plus Jakarta Sans"/>
              </a:rPr>
              <a:t>Request de Entrada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38324" y="3466862"/>
            <a:ext cx="8429625" cy="570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s-CO" sz="1100" b="0" i="0" u="none" noProof="1">
                <a:solidFill>
                  <a:srgbClr val="3FFFD1"/>
                </a:solidFill>
                <a:latin typeface="Fira Code"/>
              </a:rPr>
              <a:t>{</a:t>
            </a:r>
          </a:p>
          <a:p>
            <a:pPr algn="l">
              <a:lnSpc>
                <a:spcPts val="1462"/>
              </a:lnSpc>
            </a:pPr>
            <a:r>
              <a:rPr lang="es-CO" sz="1100" b="0" i="0" u="none" noProof="1">
                <a:solidFill>
                  <a:srgbClr val="3FFFD1"/>
                </a:solidFill>
                <a:latin typeface="Fira Code"/>
              </a:rPr>
              <a:t>"text": "Ventas LATAM crecieron un 15% durante el último trimestre impulsadas por canal digital.“</a:t>
            </a:r>
          </a:p>
          <a:p>
            <a:pPr algn="l">
              <a:lnSpc>
                <a:spcPts val="1462"/>
              </a:lnSpc>
            </a:pPr>
            <a:r>
              <a:rPr lang="es-CO" sz="1100" b="0" i="0" u="none" noProof="1">
                <a:solidFill>
                  <a:srgbClr val="3FFFD1"/>
                </a:solidFill>
                <a:latin typeface="Fira Code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4989" y="4985178"/>
            <a:ext cx="22002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b="1" i="0" u="none" noProof="1">
                <a:solidFill>
                  <a:srgbClr val="34D399"/>
                </a:solidFill>
                <a:latin typeface="Plus Jakarta Sans"/>
              </a:rPr>
              <a:t>Response de Salida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7389" y="5472113"/>
            <a:ext cx="5842695" cy="568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lang="es-CO" sz="1050" b="0" i="0" u="none" noProof="1">
                <a:solidFill>
                  <a:srgbClr val="3FFFD1"/>
                </a:solidFill>
                <a:latin typeface="Fira Code"/>
              </a:rPr>
              <a:t>{</a:t>
            </a:r>
          </a:p>
          <a:p>
            <a:pPr algn="l">
              <a:lnSpc>
                <a:spcPts val="1462"/>
              </a:lnSpc>
            </a:pPr>
            <a:r>
              <a:rPr lang="es-CO" sz="1050" b="0" i="0" u="none" noProof="1">
                <a:solidFill>
                  <a:srgbClr val="3FFFD1"/>
                </a:solidFill>
                <a:latin typeface="Fira Code"/>
              </a:rPr>
              <a:t>"summary": "Ventas LATAM +15% en el trimestre por canal digital.“</a:t>
            </a:r>
          </a:p>
          <a:p>
            <a:pPr algn="l">
              <a:lnSpc>
                <a:spcPts val="1462"/>
              </a:lnSpc>
            </a:pPr>
            <a:r>
              <a:rPr lang="es-CO" sz="1050" b="0" i="0" u="none" noProof="1">
                <a:solidFill>
                  <a:srgbClr val="3FFFD1"/>
                </a:solidFill>
                <a:latin typeface="Fira Code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902945"/>
              </p:ext>
            </p:extLst>
          </p:nvPr>
        </p:nvGraphicFramePr>
        <p:xfrm>
          <a:off x="366628" y="2114550"/>
          <a:ext cx="11458743" cy="3819525"/>
        </p:xfrm>
        <a:graphic>
          <a:graphicData uri="http://schemas.openxmlformats.org/drawingml/2006/table">
            <a:tbl>
              <a:tblPr/>
              <a:tblGrid>
                <a:gridCol w="4102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0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5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3905">
                <a:tc>
                  <a:txBody>
                    <a:bodyPr/>
                    <a:lstStyle/>
                    <a:p>
                      <a:pPr algn="l"/>
                      <a:r>
                        <a:rPr lang="es-CO" sz="2000" b="1" i="0" u="none" noProof="1">
                          <a:solidFill>
                            <a:srgbClr val="38BDF8"/>
                          </a:solidFill>
                          <a:latin typeface="Plus Jakarta Sans"/>
                        </a:rPr>
                        <a:t>Criterio / Característica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b="1" i="0" u="none" noProof="1">
                          <a:solidFill>
                            <a:srgbClr val="94A3B8"/>
                          </a:solidFill>
                          <a:latin typeface="Plus Jakarta Sans"/>
                        </a:rPr>
                        <a:t>Flask (Tradicional)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b="1" i="0" u="none" noProof="1">
                          <a:solidFill>
                            <a:srgbClr val="34D399"/>
                          </a:solidFill>
                          <a:latin typeface="Plus Jakarta Sans"/>
                        </a:rPr>
                        <a:t>FastAPI (Moderno)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3905">
                <a:tc>
                  <a:txBody>
                    <a:bodyPr/>
                    <a:lstStyle/>
                    <a:p>
                      <a:pPr algn="l"/>
                      <a:r>
                        <a:rPr lang="es-CO" sz="1800" b="1" i="0" u="none" noProof="1">
                          <a:solidFill>
                            <a:srgbClr val="F8FAFC"/>
                          </a:solidFill>
                          <a:latin typeface="Plus Jakarta Sans"/>
                        </a:rPr>
                        <a:t>Facilidad de Aprendizaje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800" b="0" i="0" u="none" noProof="1">
                          <a:solidFill>
                            <a:srgbClr val="CBD5E1"/>
                          </a:solidFill>
                          <a:latin typeface="Plus Jakarta Sans"/>
                        </a:rPr>
                        <a:t>Excelente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800" b="0" i="0" u="none" noProof="1">
                          <a:solidFill>
                            <a:srgbClr val="CBD5E1"/>
                          </a:solidFill>
                          <a:latin typeface="Plus Jakarta Sans"/>
                        </a:rPr>
                        <a:t>Excelente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905">
                <a:tc>
                  <a:txBody>
                    <a:bodyPr/>
                    <a:lstStyle/>
                    <a:p>
                      <a:pPr algn="l"/>
                      <a:r>
                        <a:rPr lang="es-CO" sz="1800" b="1" i="0" u="none" noProof="1">
                          <a:solidFill>
                            <a:srgbClr val="F8FAFC"/>
                          </a:solidFill>
                          <a:latin typeface="Plus Jakarta Sans"/>
                        </a:rPr>
                        <a:t>Swagger Autogenerado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800" b="0" i="0" u="none" noProof="1">
                          <a:solidFill>
                            <a:srgbClr val="EF4444"/>
                          </a:solidFill>
                          <a:latin typeface="Plus Jakarta Sans"/>
                        </a:rPr>
                        <a:t>Requiere librerías extra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800" b="1" i="0" u="none" noProof="1">
                          <a:solidFill>
                            <a:srgbClr val="34D399"/>
                          </a:solidFill>
                          <a:latin typeface="Plus Jakarta Sans"/>
                        </a:rPr>
                        <a:t>Nativo e Interactivo (OpenAPI)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3905">
                <a:tc>
                  <a:txBody>
                    <a:bodyPr/>
                    <a:lstStyle/>
                    <a:p>
                      <a:pPr algn="l"/>
                      <a:r>
                        <a:rPr lang="es-CO" sz="1800" b="1" i="0" u="none" noProof="1">
                          <a:solidFill>
                            <a:srgbClr val="F8FAFC"/>
                          </a:solidFill>
                          <a:latin typeface="Plus Jakarta Sans"/>
                        </a:rPr>
                        <a:t>Tipado de Datos (Type Hints)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800" b="0" i="0" u="none" noProof="1">
                          <a:solidFill>
                            <a:srgbClr val="CBD5E1"/>
                          </a:solidFill>
                          <a:latin typeface="Plus Jakarta Sans"/>
                        </a:rPr>
                        <a:t>Opcional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800" b="1" i="0" u="none" noProof="1">
                          <a:solidFill>
                            <a:srgbClr val="34D399"/>
                          </a:solidFill>
                          <a:latin typeface="Plus Jakarta Sans"/>
                        </a:rPr>
                        <a:t>Nativo con Pydantic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3905">
                <a:tc>
                  <a:txBody>
                    <a:bodyPr/>
                    <a:lstStyle/>
                    <a:p>
                      <a:pPr algn="l"/>
                      <a:r>
                        <a:rPr lang="es-CO" sz="1800" b="1" i="0" u="none" noProof="1">
                          <a:solidFill>
                            <a:srgbClr val="F8FAFC"/>
                          </a:solidFill>
                          <a:latin typeface="Plus Jakarta Sans"/>
                        </a:rPr>
                        <a:t>Desempeño Asíncrono (Async)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800" b="0" i="0" u="none" noProof="1">
                          <a:solidFill>
                            <a:srgbClr val="CBD5E1"/>
                          </a:solidFill>
                          <a:latin typeface="Plus Jakarta Sans"/>
                        </a:rPr>
                        <a:t>Limitado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800" b="1" i="0" u="none" noProof="1">
                          <a:solidFill>
                            <a:srgbClr val="34D399"/>
                          </a:solidFill>
                          <a:latin typeface="Plus Jakarta Sans"/>
                        </a:rPr>
                        <a:t>Ultra rápido (ASGI)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1050" b="1" i="0" u="none" noProof="1">
                <a:solidFill>
                  <a:srgbClr val="38BDF8"/>
                </a:solidFill>
                <a:latin typeface="Plus Jakarta Sans"/>
              </a:rPr>
              <a:t>COMPARATIVA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6265113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CO" sz="3200" b="1" i="0" u="none" noProof="1">
                <a:solidFill>
                  <a:srgbClr val="FFFFFF"/>
                </a:solidFill>
                <a:latin typeface="Plus Jakarta Sans"/>
              </a:rPr>
              <a:t>Frameworks Python: Flask vs FastAPI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966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8000" y="3828157"/>
            <a:ext cx="6096000" cy="1421010"/>
          </a:xfrm>
          <a:prstGeom prst="roundRect">
            <a:avLst>
              <a:gd name="adj" fmla="val 8043"/>
            </a:avLst>
          </a:prstGeom>
          <a:solidFill>
            <a:srgbClr val="1C2539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1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608832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312" y="1780282"/>
            <a:ext cx="333375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26928" y="2447032"/>
            <a:ext cx="5138142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3600" b="1" i="0" u="none" noProof="1">
                <a:solidFill>
                  <a:srgbClr val="FFFFFF"/>
                </a:solidFill>
                <a:latin typeface="Plus Jakarta Sans"/>
              </a:rPr>
              <a:t>¡Muchas Gracias!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74156" y="3180457"/>
            <a:ext cx="664368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1650" b="0" i="0" u="none" noProof="1">
                <a:solidFill>
                  <a:srgbClr val="CBD5E1"/>
                </a:solidFill>
                <a:latin typeface="Plus Jakarta Sans"/>
              </a:rPr>
              <a:t>¿Preguntas o comentarios sobre integración de APIs?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900" y="3904357"/>
            <a:ext cx="6934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O" sz="2000" b="1" i="0" u="none" noProof="1">
                <a:solidFill>
                  <a:srgbClr val="A855F7"/>
                </a:solidFill>
                <a:latin typeface="Plus Jakarta Sans"/>
              </a:rPr>
              <a:t>Próxima Sesión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4002" y="4323457"/>
            <a:ext cx="100399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b="1" i="0" u="none" noProof="1">
                <a:solidFill>
                  <a:srgbClr val="FFFFFF"/>
                </a:solidFill>
                <a:latin typeface="Plus Jakarta Sans"/>
              </a:rPr>
              <a:t>APIs Vol.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6928" y="4637782"/>
            <a:ext cx="525512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CO" sz="2000" noProof="1">
                <a:solidFill>
                  <a:schemeClr val="bg1">
                    <a:lumMod val="85000"/>
                  </a:schemeClr>
                </a:solidFill>
              </a:rPr>
              <a:t>Validación y Testing con FastAPI, Pydantic y PyTest</a:t>
            </a:r>
            <a:endParaRPr lang="es-CO" sz="1100" b="0" i="0" u="none" noProof="1">
              <a:solidFill>
                <a:schemeClr val="bg1">
                  <a:lumMod val="85000"/>
                </a:schemeClr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988</Words>
  <Application>Microsoft Office PowerPoint</Application>
  <PresentationFormat>Panorámica</PresentationFormat>
  <Paragraphs>176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Fira Code</vt:lpstr>
      <vt:lpstr>Arial</vt:lpstr>
      <vt:lpstr>Calibri</vt:lpstr>
      <vt:lpstr>Plus Jakarta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Andrés Pineda</cp:lastModifiedBy>
  <cp:revision>26</cp:revision>
  <dcterms:created xsi:type="dcterms:W3CDTF">2013-01-27T09:14:16Z</dcterms:created>
  <dcterms:modified xsi:type="dcterms:W3CDTF">2026-09-30T05:12:00Z</dcterms:modified>
  <cp:category/>
</cp:coreProperties>
</file>