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Plus Jakarta Sans"/>
      <ns0:italic ns1:id="rIdFont22"/>
      <ns0:bold ns1:id="rIdFont23"/>
      <ns0:regular ns1:id="rIdFont24"/>
    </ns0:embeddedFont>
    <ns0:embeddedFont>
      <ns0:font typeface="JetBrains Mono"/>
      <ns0:bold ns1:id="rIdFont25"/>
      <ns0:regular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abb104a8-a567-4aad-8566-8cb723d3666c.fntdata" /><ns0:Relationship Id="rIdFont23" Type="http://schemas.openxmlformats.org/officeDocument/2006/relationships/font" Target="fonts/60b6b583-dfe1-429b-bbf9-f1e53e978ca9.fntdata" /><ns0:Relationship Id="rIdFont24" Type="http://schemas.openxmlformats.org/officeDocument/2006/relationships/font" Target="fonts/e6657bcc-0ef7-4251-a293-8753ba284d69.fntdata" /><ns0:Relationship Id="rIdFont25" Type="http://schemas.openxmlformats.org/officeDocument/2006/relationships/font" Target="fonts/6bdeb861-c1ad-4fb4-b81d-1a95bcbd3e62.fntdata" /><ns0:Relationship Id="rIdFont26" Type="http://schemas.openxmlformats.org/officeDocument/2006/relationships/font" Target="fonts/dba464eb-bf72-4cb4-b702-4b778e9f4b9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1686073"/>
            <a:ext cx="3000375" cy="304800"/>
          </a:xfrm>
          <a:prstGeom prst="roundRect">
            <a:avLst>
              <a:gd name="adj" fmla="val 18750"/>
            </a:avLst>
          </a:prstGeom>
          <a:solidFill>
            <a:srgbClr val="19294A"/>
          </a:solidFill>
          <a:ln w="9525">
            <a:solidFill>
              <a:srgbClr val="2047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24275" y="1686073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192C3E"/>
          </a:solidFill>
          <a:ln w="9525">
            <a:solidFill>
              <a:srgbClr val="1E4E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067151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6C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311" y="1619250"/>
            <a:ext cx="4186088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836" y="1628775"/>
            <a:ext cx="4167038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771798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219473"/>
            <a:ext cx="6906019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Validación del Flujo de Datos en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373784"/>
            <a:ext cx="6906019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Protección de Contratos con Pydantic v2 y Testing Automatizado con 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47095"/>
            <a:ext cx="6577161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Estrategia para validar esquemas de datos entrantes antes de procesarlos y asegurar la estabilidad del sistema mediante pruebas automáticas.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743223"/>
            <a:ext cx="263842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Arquitectura de APIs &amp; Data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7625" y="1743223"/>
            <a:ext cx="13525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Garantía de 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5000476"/>
            <a:ext cx="581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Pydantic v2 • Assert • pytest.raises • Fixtures • Parametrize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1212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081212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081212"/>
            <a:ext cx="3505200" cy="3619500"/>
          </a:xfrm>
          <a:prstGeom prst="roundRect">
            <a:avLst>
              <a:gd name="adj" fmla="val 326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955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3955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3955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25098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2" y="2509837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0112" y="2509837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EL PROBLEMA ARQUITECTÓNICO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Riesgos de Procesar Payloads No Validados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043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Excepciones No Controladas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395662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Acceso a claves inexistentes o tipos incompatibles que provocan errores inesperados en producción.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043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Corrupción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395662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Guardado de datos corruptos o fuera de rango en la base de datos o data warehouse.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043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Regresiones Silenciosas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395662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Cambios en el código que rompen clientes o pipelines por falta de verificación automatizada.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0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04925"/>
            <a:ext cx="47625" cy="952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24125"/>
            <a:ext cx="3530649" cy="3876675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2524125"/>
            <a:ext cx="3530649" cy="3876675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2524125"/>
            <a:ext cx="3530649" cy="3876675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5621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6701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74" y="276701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024" y="2767012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DEFINICIÓN &amp; OBJETIVO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¿Qué es Pydantic v2 y cuál es su beneficio?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1514475"/>
            <a:ext cx="10487025" cy="5334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Beneficio Clave: Validar y limpiar datos automáticamente </a:t>
            </a:r>
            <a:r>
              <a:rPr b="1" sz="1500" i="0" u="none">
                <a:solidFill>
                  <a:srgbClr val="38BDF8"/>
                </a:solidFill>
                <a:latin typeface="Plus Jakarta Sans"/>
              </a:rPr>
              <a:t>antes</a:t>
            </a:r>
            <a:r>
              <a:rPr b="1" sz="1500" i="0" u="none">
                <a:solidFill>
                  <a:srgbClr val="F8FAFC"/>
                </a:solidFill>
                <a:latin typeface="Plus Jakarta Sans"/>
              </a:rPr>
              <a:t> de que lleguen a la lógica de negocio o a la base de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095625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Rechaza peticiones inválidas instantáneamente respondiendo con errores claros al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095625"/>
            <a:ext cx="31496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Convierte tipos automáticamente (ej. convierte el texto </a:t>
            </a:r>
            <a:r>
              <a:rPr b="0" sz="1125" i="0" u="none">
                <a:solidFill>
                  <a:srgbClr val="34D399"/>
                </a:solidFill>
                <a:latin typeface="Plus Jakarta Sans"/>
              </a:rPr>
              <a:t>"10"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en el entero </a:t>
            </a:r>
            <a:r>
              <a:rPr b="0" sz="1125" i="0" u="none">
                <a:solidFill>
                  <a:srgbClr val="34D399"/>
                </a:solidFill>
                <a:latin typeface="Plus Jakarta Sans"/>
              </a:rPr>
              <a:t>10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095625"/>
            <a:ext cx="3149649" cy="661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Impulsado internamente por </a:t>
            </a:r>
            <a:r>
              <a:rPr b="0" sz="1125" i="0" u="none">
                <a:solidFill>
                  <a:srgbClr val="C084FC"/>
                </a:solidFill>
                <a:latin typeface="Plus Jakarta Sans"/>
              </a:rPr>
              <a:t>pydantic-core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escrito en Rust para una validación ultra rápida.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2762250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Filtro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724" y="2762250"/>
            <a:ext cx="18627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Coerción Segura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5299" y="2762250"/>
            <a:ext cx="19127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Rendimiento Alto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33475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76425"/>
            <a:ext cx="5372100" cy="4562475"/>
          </a:xfrm>
          <a:prstGeom prst="roundRect">
            <a:avLst>
              <a:gd name="adj" fmla="val 2505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876425"/>
            <a:ext cx="5372100" cy="4562475"/>
          </a:xfrm>
          <a:prstGeom prst="roundRect">
            <a:avLst>
              <a:gd name="adj" fmla="val 2505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333625"/>
            <a:ext cx="4972050" cy="6858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10325" y="2371725"/>
            <a:ext cx="4972050" cy="647700"/>
          </a:xfrm>
          <a:prstGeom prst="roundRect">
            <a:avLst>
              <a:gd name="adj" fmla="val 11764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5200650"/>
            <a:ext cx="4972050" cy="381000"/>
          </a:xfrm>
          <a:prstGeom prst="roundRect">
            <a:avLst>
              <a:gd name="adj" fmla="val 15000"/>
            </a:avLst>
          </a:prstGeom>
          <a:solidFill>
            <a:srgbClr val="081B20"/>
          </a:solidFill>
          <a:ln w="9525">
            <a:solidFill>
              <a:srgbClr val="12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5676900"/>
            <a:ext cx="4972050" cy="561975"/>
          </a:xfrm>
          <a:prstGeom prst="roundRect">
            <a:avLst>
              <a:gd name="adj" fmla="val 10169"/>
            </a:avLst>
          </a:prstGeom>
          <a:solidFill>
            <a:srgbClr val="1C121C"/>
          </a:solidFill>
          <a:ln w="9525">
            <a:solidFill>
              <a:srgbClr val="4C27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090737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FUNDAMENTOS DE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¿Qué es un Test y cómo funciona `assert`?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295400"/>
            <a:ext cx="11382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2E8F0"/>
                </a:solidFill>
                <a:latin typeface="Plus Jakarta Sans"/>
              </a:rPr>
              <a:t>Un </a:t>
            </a:r>
            <a:r>
              <a:rPr b="1" sz="1200" i="0" u="none">
                <a:solidFill>
                  <a:srgbClr val="38BDF8"/>
                </a:solidFill>
                <a:latin typeface="Plus Jakarta Sans"/>
              </a:rPr>
              <a:t>test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es código Python que verifica automáticamente que </a:t>
            </a:r>
            <a:r>
              <a:rPr b="0" sz="1200" i="1" u="none">
                <a:solidFill>
                  <a:srgbClr val="E2E8F0"/>
                </a:solidFill>
                <a:latin typeface="Plus Jakarta Sans"/>
              </a:rPr>
              <a:t>otro código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se comporte exactamente como esperamos.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076450"/>
            <a:ext cx="621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Ejemplo Mínimo en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486025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JetBrains Mono"/>
              </a:rPr>
              <a:t>resultado = </a:t>
            </a:r>
            <a:r>
              <a:rPr b="0" sz="1125" i="0" u="none">
                <a:solidFill>
                  <a:srgbClr val="FACC15"/>
                </a:solidFill>
                <a:latin typeface="JetBrains Mono"/>
              </a:rPr>
              <a:t>2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+ </a:t>
            </a:r>
            <a:r>
              <a:rPr b="0" sz="1125" i="0" u="none">
                <a:solidFill>
                  <a:srgbClr val="FACC15"/>
                </a:solidFill>
                <a:latin typeface="JetBrains Mono"/>
              </a:rPr>
              <a:t>2</a:t>
            </a:r>
            <a:r>
              <a:t>
</a:t>
            </a:r>
            <a:r>
              <a:rPr b="0" sz="1125" i="0" u="none">
                <a:solidFill>
                  <a:srgbClr val="F472B6"/>
                </a:solidFill>
                <a:latin typeface="JetBrains Mono"/>
              </a:rPr>
              <a:t>assert</a:t>
            </a:r>
            <a:r>
              <a:rPr b="0" sz="1125" i="0" u="none">
                <a:solidFill>
                  <a:srgbClr val="F8FAFC"/>
                </a:solidFill>
                <a:latin typeface="JetBrains Mono"/>
              </a:rPr>
              <a:t> resultado == </a:t>
            </a:r>
            <a:r>
              <a:rPr b="0" sz="1125" i="0" u="none">
                <a:solidFill>
                  <a:srgbClr val="FACC15"/>
                </a:solidFill>
                <a:latin typeface="JetBrains Mon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524125"/>
            <a:ext cx="476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72B6"/>
                </a:solidFill>
                <a:latin typeface="JetBrains Mono"/>
              </a:rPr>
              <a:t>with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pytest.raises(ValueError):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"hola"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5838825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También debemos verificar que el sistema </a:t>
            </a:r>
            <a:r>
              <a:rPr b="1" sz="1050" i="0" u="none">
                <a:solidFill>
                  <a:srgbClr val="94A3B8"/>
                </a:solidFill>
                <a:latin typeface="Plus Jakarta Sans"/>
              </a:rPr>
              <a:t>falle correctamente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cuando recibe datos inválidos. Si el bloque interno lanza el error esperado, el test es exitoso 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5295900"/>
            <a:ext cx="480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Si la condición es Verdadera:</a:t>
            </a:r>
            <a:r>
              <a:rPr b="0" sz="1050" i="0" u="none">
                <a:solidFill>
                  <a:srgbClr val="34D399"/>
                </a:solidFill>
                <a:latin typeface="Plus Jakarta Sans"/>
              </a:rPr>
              <a:t> ✅ PASS (El test aprueba silenciosamente).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772150"/>
            <a:ext cx="48006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7171"/>
                </a:solidFill>
                <a:latin typeface="Plus Jakarta Sans"/>
              </a:rPr>
              <a:t>Si la condición es Falsa:</a:t>
            </a:r>
            <a:r>
              <a:rPr b="0" sz="1050" i="0" u="none">
                <a:solidFill>
                  <a:srgbClr val="F87171"/>
                </a:solidFill>
                <a:latin typeface="Plus Jakarta Sans"/>
              </a:rPr>
              <a:t> ❌ FAIL (Lanza </a:t>
            </a:r>
            <a:r>
              <a:rPr b="0" sz="1050" i="0" u="none">
                <a:solidFill>
                  <a:srgbClr val="F87171"/>
                </a:solidFill>
                <a:latin typeface="Plus Jakarta Sans"/>
              </a:rPr>
              <a:t>AssertionError</a:t>
            </a:r>
            <a:r>
              <a:rPr b="0" sz="1050" i="0" u="none">
                <a:solidFill>
                  <a:srgbClr val="F87171"/>
                </a:solidFill>
                <a:latin typeface="Plus Jakarta Sans"/>
              </a:rPr>
              <a:t> y detiene el proceso).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2076450"/>
            <a:ext cx="35629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Probando Fallos con `pytest.raises()`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6462712" cy="1203870"/>
          </a:xfrm>
          <a:prstGeom prst="roundRect">
            <a:avLst>
              <a:gd name="adj" fmla="val 6329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37395"/>
            <a:ext cx="3530649" cy="3663404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737395"/>
            <a:ext cx="3530649" cy="3663404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737395"/>
            <a:ext cx="3530649" cy="3663404"/>
          </a:xfrm>
          <a:prstGeom prst="roundRect">
            <a:avLst>
              <a:gd name="adj" fmla="val 3237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04925"/>
            <a:ext cx="38100" cy="120387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912" y="1382910"/>
            <a:ext cx="4281487" cy="1047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437" y="1392435"/>
            <a:ext cx="4262437" cy="1028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980283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874" y="2980283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024" y="2980283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EL FRAMEWORK DE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¿Qué es PyTest y por qué lo usamos?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1495425"/>
            <a:ext cx="6062662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4D399"/>
                </a:solidFill>
                <a:latin typeface="Plus Jakarta Sans"/>
              </a:rPr>
              <a:t>PyTest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es la herramienta que ejecuta y organiza todos nuestros tests. Descubre automáticamente los archivos de prueba y nos dice qué pasó y qué falló.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08895"/>
            <a:ext cx="3149649" cy="652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Encuentra automáticamente funciones nombradas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test_*()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sin configuración manual.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308895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Permite crear plantillas de datos compartidas entre múltiples pruebas evitando código repetido.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308895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Ejecuta la misma función de test con múltiples casos de entrada en una sola instrucción.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2975520"/>
            <a:ext cx="23002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Autodescubrimiento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2975520"/>
            <a:ext cx="23127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Fixtures Reutilizables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874" y="2975520"/>
            <a:ext cx="17877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Parametrización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90625"/>
            <a:ext cx="10972800" cy="4581525"/>
          </a:xfrm>
          <a:prstGeom prst="roundRect">
            <a:avLst>
              <a:gd name="adj" fmla="val 2494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0D1824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6067425"/>
            <a:ext cx="142875" cy="19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486025"/>
          <a:ext cx="10953749" cy="19907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23888"/>
                <a:gridCol w="4281636"/>
                <a:gridCol w="4848225"/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Criterio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Pydantic v2 (Filtro de Datos)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PyTest (Verificador de Código)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Momento de Trabajo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 vivo en producción por cada petición HTTP o pipeline.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Durante el desarrollo y en el servidor de Integración Continua (CI).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Objetivo Primario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Validar, transformar y limpiar datos entrantes.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Demostrar que nuestro código cumple las reglas.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Reacción a Error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Lanza </a:t>
                      </a:r>
                      <a:r>
                        <a:rPr b="0" sz="1125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ValidationError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(Responde HTTP 422 al cliente).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Lanza </a:t>
                      </a:r>
                      <a:r>
                        <a:rPr b="0" sz="1125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AssertionError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(Muestra fallo en consola).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SÍNTESIS ARQUITECTÓNICA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Diferencias Clave: Pydantic v2 vs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6076950"/>
            <a:ext cx="9763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Regla de Oro: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Pydantic asegura que los datos sean correctos; PyTest asegura que nuestro programa procese bien esos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19200"/>
            <a:ext cx="5372100" cy="5181600"/>
          </a:xfrm>
          <a:prstGeom prst="roundRect">
            <a:avLst>
              <a:gd name="adj" fmla="val 2205"/>
            </a:avLst>
          </a:prstGeom>
          <a:solidFill>
            <a:srgbClr val="14111B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19200"/>
            <a:ext cx="5372100" cy="5181600"/>
          </a:xfrm>
          <a:prstGeom prst="roundRect">
            <a:avLst>
              <a:gd name="adj" fmla="val 2205"/>
            </a:avLst>
          </a:prstGeom>
          <a:solidFill>
            <a:srgbClr val="0D171E"/>
          </a:solidFill>
          <a:ln w="9525">
            <a:solidFill>
              <a:srgbClr val="154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8675" y="1771650"/>
            <a:ext cx="4933950" cy="1233487"/>
          </a:xfrm>
          <a:prstGeom prst="roundRect">
            <a:avLst>
              <a:gd name="adj" fmla="val 6177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29375" y="1771650"/>
            <a:ext cx="4933950" cy="1604962"/>
          </a:xfrm>
          <a:prstGeom prst="roundRect">
            <a:avLst>
              <a:gd name="adj" fmla="val 4747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00600" y="1438275"/>
            <a:ext cx="962025" cy="219075"/>
          </a:xfrm>
          <a:prstGeom prst="roundRect">
            <a:avLst>
              <a:gd name="adj" fmla="val 26086"/>
            </a:avLst>
          </a:prstGeom>
          <a:solidFill>
            <a:srgbClr val="36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25125" y="1438275"/>
            <a:ext cx="838200" cy="219075"/>
          </a:xfrm>
          <a:prstGeom prst="roundRect">
            <a:avLst>
              <a:gd name="adj" fmla="val 26086"/>
            </a:avLst>
          </a:prstGeom>
          <a:solidFill>
            <a:srgbClr val="1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47637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5786437"/>
            <a:ext cx="1047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6034087"/>
            <a:ext cx="1047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5786437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6034087"/>
            <a:ext cx="114300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COMPARATIVA PRÁCTICA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Uso de Diccionarios (`dict`) vs Modelos Tipados (`BaseModel`)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1924050"/>
            <a:ext cx="4724400" cy="928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72B6"/>
                </a:solidFill>
                <a:latin typeface="JetBrains Mono"/>
              </a:rPr>
              <a:t>@app.post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"/orders"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create_order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(payload: </a:t>
            </a:r>
            <a:r>
              <a:rPr b="0" sz="975" i="0" u="none">
                <a:solidFill>
                  <a:srgbClr val="F87171"/>
                </a:solidFill>
                <a:latin typeface="JetBrains Mono"/>
              </a:rPr>
              <a:t>dict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item_id = payload[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"item_id"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] 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# Riesgo de KeyError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qty = payload[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"quantity"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] 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# Tipo no verificado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db.save(item_id, qty)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1924050"/>
            <a:ext cx="4724400" cy="1300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72B6"/>
                </a:solidFill>
                <a:latin typeface="JetBrains Mono"/>
              </a:rPr>
              <a:t>class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OrderRequest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(BaseModel):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item_id: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= Field(..., gt=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quantity: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= Field(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ge=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@app.post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"/orders"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create_order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(order: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OrderRequest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db.save(order.item_id, order.quantity)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1447800"/>
            <a:ext cx="24288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7171"/>
                </a:solidFill>
                <a:latin typeface="Plus Jakarta Sans"/>
              </a:rPr>
              <a:t>Riesgoso: Uso de `dict`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5850" y="1476375"/>
            <a:ext cx="866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7171"/>
                </a:solidFill>
                <a:latin typeface="Plus Jakarta Sans"/>
              </a:rPr>
              <a:t>Sin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5762625"/>
            <a:ext cx="6167437" cy="17145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CA5A5"/>
                </a:solidFill>
                <a:latin typeface="Plus Jakarta Sans"/>
              </a:rPr>
              <a:t>Error no controlado si falta una clave en el JSON.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6010275"/>
            <a:ext cx="6167437" cy="17145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CA5A5"/>
                </a:solidFill>
                <a:latin typeface="Plus Jakarta Sans"/>
              </a:rPr>
              <a:t>Acepta cantidades negativas o textos en lugar de números.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1447800"/>
            <a:ext cx="2166937" cy="2000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Solución: `BaseModel`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0375" y="1476375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Plus Jakarta Sans"/>
              </a:rPr>
              <a:t>Pydantic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5762625"/>
            <a:ext cx="5762625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7F3D0"/>
                </a:solidFill>
                <a:latin typeface="Plus Jakarta Sans"/>
              </a:rPr>
              <a:t>Rechaza datos inválidos antes de ejecutar la función.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6010275"/>
            <a:ext cx="5762625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7F3D0"/>
                </a:solidFill>
                <a:latin typeface="Plus Jakarta Sans"/>
              </a:rPr>
              <a:t>Garantiza que los campos existan y tengan el tipo correcto.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14425"/>
            <a:ext cx="5345608" cy="5324475"/>
          </a:xfrm>
          <a:prstGeom prst="roundRect">
            <a:avLst>
              <a:gd name="adj" fmla="val 1788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45708" y="1114425"/>
            <a:ext cx="5436691" cy="600075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45708" y="1809750"/>
            <a:ext cx="5436691" cy="60960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45708" y="2514600"/>
            <a:ext cx="5436691" cy="600075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93183" y="1295400"/>
            <a:ext cx="781050" cy="200025"/>
          </a:xfrm>
          <a:prstGeom prst="roundRect">
            <a:avLst>
              <a:gd name="adj" fmla="val 19047"/>
            </a:avLst>
          </a:prstGeom>
          <a:solidFill>
            <a:srgbClr val="0B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7633" y="1238250"/>
            <a:ext cx="361950" cy="25717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7633" y="1933575"/>
            <a:ext cx="742950" cy="25717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7633" y="2638425"/>
            <a:ext cx="819150" cy="25717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SINTAXIS EN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Modelo con Reglas de Validación Personalizadas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1609725"/>
            <a:ext cx="5078908" cy="464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pydantic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BaseModel, Field, field_validator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2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3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class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OrderRequest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(BaseModel):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4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item_id: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= Field(..., gt=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5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quantity: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= Field(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ge=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le=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100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6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promo_code: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str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|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None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=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None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7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8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@field_validator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"promo_code"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9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validate_code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(cls, v: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str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|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None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v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and not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v.isupper():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raise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ValueError(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"Debe estar en mayúsculas"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12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131445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schemas.py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9383" y="1323975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"/>
              </a:rP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2883" y="1276350"/>
            <a:ext cx="266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3883" y="1238250"/>
            <a:ext cx="473184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Campo Requerido: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Field(...)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exige que el valor exista y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gt=0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exige que sea un entero positivo.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883" y="1971675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L5 - L6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4883" y="1933575"/>
            <a:ext cx="435084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Valores por Defecto: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quantity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asume 1 si no se envía, y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promo_code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admite valores nulos (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None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883" y="2676525"/>
            <a:ext cx="723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L8 - L12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1083" y="2638425"/>
            <a:ext cx="427464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Regla Personalizada: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Si se provee un código, debe estar totalmente en MAYÚSCULAS o de lo contrario lanza </a:t>
            </a:r>
            <a:r>
              <a:rPr b="0" sz="1050" i="0" u="none">
                <a:solidFill>
                  <a:srgbClr val="F87171"/>
                </a:solidFill>
                <a:latin typeface="Plus Jakarta Sans"/>
              </a:rPr>
              <a:t>ValueError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28725"/>
            <a:ext cx="4726037" cy="5172075"/>
          </a:xfrm>
          <a:prstGeom prst="roundRect">
            <a:avLst>
              <a:gd name="adj" fmla="val 241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64237" y="1228725"/>
            <a:ext cx="6018162" cy="5172075"/>
          </a:xfrm>
          <a:prstGeom prst="roundRect">
            <a:avLst>
              <a:gd name="adj" fmla="val 2209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28725"/>
            <a:ext cx="4726037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1809750"/>
            <a:ext cx="4306937" cy="3905250"/>
          </a:xfrm>
          <a:prstGeom prst="roundRect">
            <a:avLst>
              <a:gd name="adj" fmla="val 1951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64237" y="1228725"/>
            <a:ext cx="6018162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73787" y="1809750"/>
            <a:ext cx="5599062" cy="4381500"/>
          </a:xfrm>
          <a:prstGeom prst="roundRect">
            <a:avLst>
              <a:gd name="adj" fmla="val 1739"/>
            </a:avLst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83112" y="1476375"/>
            <a:ext cx="942975" cy="219075"/>
          </a:xfrm>
          <a:prstGeom prst="roundRect">
            <a:avLst>
              <a:gd name="adj" fmla="val 26086"/>
            </a:avLst>
          </a:prstGeom>
          <a:solidFill>
            <a:srgbClr val="16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67850" y="1476375"/>
            <a:ext cx="1905000" cy="219075"/>
          </a:xfrm>
          <a:prstGeom prst="roundRect">
            <a:avLst>
              <a:gd name="adj" fmla="val 26086"/>
            </a:avLst>
          </a:prstGeom>
          <a:solidFill>
            <a:srgbClr val="342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51447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787" y="1514475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RESPUESTAS DE LA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Caso Exitoso vs Error Automático (HTTP 422)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962150"/>
            <a:ext cx="4097387" cy="3600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JetBrains Mono"/>
              </a:rPr>
              <a:t>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"item_id"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: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42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"quantity"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: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2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,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"promo_code"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: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"SUMMER2026"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848350"/>
            <a:ext cx="4402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Cumple todas las reglas y avanza de forma segura hacia el código de la aplicación.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6187" y="1962150"/>
            <a:ext cx="5389512" cy="407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8FAFC"/>
                </a:solidFill>
                <a:latin typeface="JetBrains Mono"/>
              </a:rPr>
              <a:t>{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b="0" sz="900" i="0" u="none">
                <a:solidFill>
                  <a:srgbClr val="F87171"/>
                </a:solidFill>
                <a:latin typeface="JetBrains Mono"/>
              </a:rPr>
              <a:t>"detail"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: [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  {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"type"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"value_error"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,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"loc"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: [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"body"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"promo_code"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],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"msg"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b="0" sz="900" i="0" u="none">
                <a:solidFill>
                  <a:srgbClr val="A5F3FC"/>
                </a:solidFill>
                <a:latin typeface="JetBrains Mono"/>
              </a:rPr>
              <a:t>"Value error, Debe estar en mayúsculas"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  }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  ]</a:t>
            </a:r>
            <a:r>
              <a:t>
</a:t>
            </a:r>
            <a:r>
              <a:rPr b="0" sz="900" i="0" u="none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1485900"/>
            <a:ext cx="161925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Payload Válido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8362" y="1514475"/>
            <a:ext cx="847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Plus Jakarta Sans"/>
              </a:rPr>
              <a:t>HTTP 200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3787" y="1485900"/>
            <a:ext cx="2012156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7171"/>
                </a:solidFill>
                <a:latin typeface="Plus Jakarta Sans"/>
              </a:rPr>
              <a:t>Error de Validación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3100" y="1514475"/>
            <a:ext cx="1809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7171"/>
                </a:solidFill>
                <a:latin typeface="Plus Jakarta Sans"/>
              </a:rPr>
              <a:t>HTTP 422 Unprocessable Entity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14425"/>
            <a:ext cx="5345608" cy="5324475"/>
          </a:xfrm>
          <a:prstGeom prst="roundRect">
            <a:avLst>
              <a:gd name="adj" fmla="val 1788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45708" y="1114425"/>
            <a:ext cx="5436691" cy="59055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45708" y="1800225"/>
            <a:ext cx="5436691" cy="771525"/>
          </a:xfrm>
          <a:prstGeom prst="roundRect">
            <a:avLst>
              <a:gd name="adj" fmla="val 9876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45708" y="6029325"/>
            <a:ext cx="5436691" cy="409575"/>
          </a:xfrm>
          <a:prstGeom prst="roundRect">
            <a:avLst>
              <a:gd name="adj" fmla="val 18604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64608" y="1295400"/>
            <a:ext cx="809625" cy="200025"/>
          </a:xfrm>
          <a:prstGeom prst="roundRect">
            <a:avLst>
              <a:gd name="adj" fmla="val 19047"/>
            </a:avLst>
          </a:prstGeom>
          <a:solidFill>
            <a:srgbClr val="0A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7633" y="1238250"/>
            <a:ext cx="742950" cy="25717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7633" y="1924050"/>
            <a:ext cx="895350" cy="25717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150" y="6176962"/>
            <a:ext cx="104775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SUITE DE TESTING EN 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Verificando Esquemas Pydantic con PyTest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1590675"/>
            <a:ext cx="5078908" cy="466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pytest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2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pydantic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ValidationError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3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schemas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OrderRequest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4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5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test_order_valid_payload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6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order = OrderRequest(item_id=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promo_code=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"SALE20"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7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assert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order.item_id ==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10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8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assert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order.quantity ==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# Valor por defecto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9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test_order_invalid_promo_code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with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pytest.raises(ValidationError):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JetBrains Mono"/>
              </a:rPr>
              <a:t>12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OrderRequest(item_id=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 promo_code=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"sale20"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1314450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JetBrains Mono"/>
              </a:rPr>
              <a:t>test_schemas.py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808" y="1323975"/>
            <a:ext cx="752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4D399"/>
                </a:solidFill>
                <a:latin typeface="Plus Jakarta Sans"/>
              </a:rPr>
              <a:t>PyTest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2883" y="1276350"/>
            <a:ext cx="647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L5 - L8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883" y="1238250"/>
            <a:ext cx="43508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Camino Feliz (Happy Path):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Verifica que con datos válidos la instancia se cree correctamente y aplique los valores por defecto.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883" y="1962150"/>
            <a:ext cx="800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L10 - L12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7283" y="1924050"/>
            <a:ext cx="4198441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Captura de Error Esperado: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Usa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pytest.raises(ValidationError)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para confirmar que Pydantic rechace códigos en minúsculas.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7633" y="61531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$ pytest test_schemas.py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150" y="6157912"/>
            <a:ext cx="981075" cy="15240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JetBrains Mono"/>
              </a:rPr>
              <a:t>2 PASSED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95375"/>
            <a:ext cx="10972800" cy="466725"/>
          </a:xfrm>
          <a:prstGeom prst="roundRect">
            <a:avLst>
              <a:gd name="adj" fmla="val 12244"/>
            </a:avLst>
          </a:prstGeom>
          <a:solidFill>
            <a:srgbClr val="19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095375"/>
            <a:ext cx="38100" cy="4667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28962"/>
            <a:ext cx="4707880" cy="1933575"/>
          </a:xfrm>
          <a:prstGeom prst="roundRect">
            <a:avLst>
              <a:gd name="adj" fmla="val 5911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3586162"/>
            <a:ext cx="4307830" cy="1276350"/>
          </a:xfrm>
          <a:prstGeom prst="roundRect">
            <a:avLst>
              <a:gd name="adj" fmla="val 597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12855" y="3529012"/>
            <a:ext cx="5169544" cy="647700"/>
          </a:xfrm>
          <a:prstGeom prst="roundRect">
            <a:avLst>
              <a:gd name="adj" fmla="val 11764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12855" y="4291012"/>
            <a:ext cx="5169544" cy="647700"/>
          </a:xfrm>
          <a:prstGeom prst="roundRect">
            <a:avLst>
              <a:gd name="adj" fmla="val 11764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105" y="3852862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Plus Jakarta Sans"/>
              </a:rPr>
              <a:t>REUTILIZACIÓN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Fixtures: Plantillas Compartidas para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228725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084FC"/>
                </a:solidFill>
                <a:latin typeface="Plus Jakarta Sans"/>
              </a:rPr>
              <a:t>¿Qué es un Fixture?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Permite reutilizar datos u objetos de prueba entre múltiples tests, evitando duplicar código repetitivo.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319462"/>
            <a:ext cx="4422130" cy="1552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084FC"/>
                </a:solidFill>
                <a:latin typeface="Plus Jakarta Sans"/>
              </a:rPr>
              <a:t>1. Definir el Fixture (@pytest.fixture)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738562"/>
            <a:ext cx="40982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472B6"/>
                </a:solidFill>
                <a:latin typeface="JetBrains Mono"/>
              </a:rPr>
              <a:t>@pytest.fixture</a:t>
            </a:r>
            <a:r>
              <a:t>
</a:t>
            </a:r>
            <a:r>
              <a:rPr b="0" sz="975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sample_payload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():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{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"item_id"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b="0" sz="975" i="0" u="none">
                <a:solidFill>
                  <a:srgbClr val="FACC15"/>
                </a:solidFill>
                <a:latin typeface="JetBrains Mono"/>
              </a:rPr>
              <a:t>5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,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    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"promo_code"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b="0" sz="975" i="0" u="none">
                <a:solidFill>
                  <a:srgbClr val="A5F3FC"/>
                </a:solidFill>
                <a:latin typeface="JetBrains Mono"/>
              </a:rPr>
              <a:t>"VIP"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  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6080" y="4195762"/>
            <a:ext cx="9239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Reutilizable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855" y="3252787"/>
            <a:ext cx="577914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JetBrains Mono"/>
              </a:rPr>
              <a:t>2. Usado por Múltiples Tests como Parámetro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255" y="3643312"/>
            <a:ext cx="495999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818CF8"/>
                </a:solidFill>
                <a:latin typeface="Plus Jakarta Sans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test_order_creation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(</a:t>
            </a:r>
            <a:r>
              <a:rPr b="0" sz="975" i="0" u="none">
                <a:solidFill>
                  <a:srgbClr val="C084FC"/>
                </a:solidFill>
                <a:latin typeface="Plus Jakarta Sans"/>
              </a:rPr>
              <a:t>sample_payload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    order = OrderRequest(**sample_payload)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255" y="4405312"/>
            <a:ext cx="495999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818CF8"/>
                </a:solidFill>
                <a:latin typeface="Plus Jakarta Sans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test_vip_discount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(</a:t>
            </a:r>
            <a:r>
              <a:rPr b="0" sz="975" i="0" u="none">
                <a:solidFill>
                  <a:srgbClr val="C084FC"/>
                </a:solidFill>
                <a:latin typeface="Plus Jakarta Sans"/>
              </a:rPr>
              <a:t>sample_payload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):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Plus Jakarta Sans"/>
              </a:rPr>
              <a:t>assert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sample_payload[</a:t>
            </a:r>
            <a:r>
              <a:rPr b="0" sz="975" i="0" u="none">
                <a:solidFill>
                  <a:srgbClr val="A5F3FC"/>
                </a:solidFill>
                <a:latin typeface="Plus Jakarta Sans"/>
              </a:rPr>
              <a:t>"promo_code"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] == </a:t>
            </a:r>
            <a:r>
              <a:rPr b="0" sz="975" i="0" u="none">
                <a:solidFill>
                  <a:srgbClr val="A5F3FC"/>
                </a:solidFill>
                <a:latin typeface="Plus Jakarta Sans"/>
              </a:rPr>
              <a:t>"VIP"</a:t>
            </a:r>
            <a:r>
              <a:rPr b="0" sz="975" i="0" u="none">
                <a:solidFill>
                  <a:srgbClr val="F8FAFC"/>
                </a:solidFill>
                <a:latin typeface="Plus Jakarta Sans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95375"/>
            <a:ext cx="10972800" cy="1219200"/>
          </a:xfrm>
          <a:prstGeom prst="roundRect">
            <a:avLst>
              <a:gd name="adj" fmla="val 7812"/>
            </a:avLst>
          </a:prstGeom>
          <a:solidFill>
            <a:srgbClr val="030712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76550"/>
            <a:ext cx="3555950" cy="962025"/>
          </a:xfrm>
          <a:prstGeom prst="roundRect">
            <a:avLst>
              <a:gd name="adj" fmla="val 7920"/>
            </a:avLst>
          </a:prstGeom>
          <a:solidFill>
            <a:srgbClr val="111827"/>
          </a:solidFill>
          <a:ln w="285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876550"/>
            <a:ext cx="3555950" cy="28575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17950" y="2876550"/>
            <a:ext cx="3555950" cy="962025"/>
          </a:xfrm>
          <a:prstGeom prst="roundRect">
            <a:avLst>
              <a:gd name="adj" fmla="val 7920"/>
            </a:avLst>
          </a:prstGeom>
          <a:solidFill>
            <a:srgbClr val="111827"/>
          </a:solidFill>
          <a:ln w="285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7950" y="2876550"/>
            <a:ext cx="3555950" cy="28575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2876550"/>
            <a:ext cx="3555950" cy="962025"/>
          </a:xfrm>
          <a:prstGeom prst="roundRect">
            <a:avLst>
              <a:gd name="adj" fmla="val 7920"/>
            </a:avLst>
          </a:prstGeom>
          <a:solidFill>
            <a:srgbClr val="111827"/>
          </a:solidFill>
          <a:ln w="285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26300" y="2876550"/>
            <a:ext cx="3555950" cy="28575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35050" y="3533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16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43401" y="3533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16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51751" y="3533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16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62" y="2505075"/>
            <a:ext cx="1619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EVALUACIÓN MASIVA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Explicación Visual de `@pytest.mark.parametrize`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247775"/>
            <a:ext cx="10763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Plus Jakarta Sans"/>
              </a:rPr>
              <a:t>Un Solo Test Escrito en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1466850"/>
            <a:ext cx="1074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72B6"/>
                </a:solidFill>
                <a:latin typeface="JetBrains Mono"/>
              </a:rPr>
              <a:t>@pytest.mark.parametrize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"invalid_qty"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, [</a:t>
            </a:r>
            <a:r>
              <a:rPr b="0" sz="1050" i="0" u="none">
                <a:solidFill>
                  <a:srgbClr val="FACC15"/>
                </a:solidFill>
                <a:latin typeface="JetBrains Mono"/>
              </a:rPr>
              <a:t>-5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FACC15"/>
                </a:solidFill>
                <a:latin typeface="JetBrains Mono"/>
              </a:rPr>
              <a:t>0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FACC15"/>
                </a:solidFill>
                <a:latin typeface="JetBrains Mono"/>
              </a:rPr>
              <a:t>101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])</a:t>
            </a:r>
            <a:r>
              <a:t>
</a:t>
            </a:r>
            <a:r>
              <a:rPr b="0" sz="1050" i="0" u="none">
                <a:solidFill>
                  <a:srgbClr val="818CF8"/>
                </a:solidFill>
                <a:latin typeface="JetBrains Mono"/>
              </a:rPr>
              <a:t>def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test_invalid_quantities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(invalid_qty):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  </a:t>
            </a:r>
            <a:r>
              <a:rPr b="0" sz="1050" i="0" u="none">
                <a:solidFill>
                  <a:srgbClr val="F472B6"/>
                </a:solidFill>
                <a:latin typeface="JetBrains Mono"/>
              </a:rPr>
              <a:t>with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pytest.raises(ValidationError):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        OrderRequest(item_id=</a:t>
            </a:r>
            <a:r>
              <a:rPr b="0" sz="1050" i="0" u="none">
                <a:solidFill>
                  <a:srgbClr val="FACC15"/>
                </a:solidFill>
                <a:latin typeface="JetBrains Mono"/>
              </a:rPr>
              <a:t>1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, quantity=invalid_qty)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9240" y="2543175"/>
            <a:ext cx="5560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Plus Jakarta Sans"/>
              </a:rPr>
              <a:t>Equivale a ejecutar automáticamente 3 ejecuciones independientes: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456" y="3009900"/>
            <a:ext cx="4178237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87171"/>
                </a:solidFill>
                <a:latin typeface="Plus Jakarta Sans"/>
              </a:rPr>
              <a:t>Ejecución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6806" y="3009900"/>
            <a:ext cx="4178237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87171"/>
                </a:solidFill>
                <a:latin typeface="Plus Jakarta Sans"/>
              </a:rPr>
              <a:t>Ejecución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156" y="3009900"/>
            <a:ext cx="4178237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87171"/>
                </a:solidFill>
                <a:latin typeface="Plus Jakarta Sans"/>
              </a:rPr>
              <a:t>Ejecución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793" y="3295650"/>
            <a:ext cx="4111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test_invalid_quantity(</a:t>
            </a:r>
            <a:r>
              <a:rPr b="1" sz="975" i="0" u="none">
                <a:solidFill>
                  <a:srgbClr val="FACC15"/>
                </a:solidFill>
                <a:latin typeface="JetBrains Mono"/>
              </a:rPr>
              <a:t>-5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8375" y="355282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Error Capturado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0144" y="3295650"/>
            <a:ext cx="4111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test_invalid_quantity(</a:t>
            </a:r>
            <a:r>
              <a:rPr b="1" sz="975" i="0" u="none">
                <a:solidFill>
                  <a:srgbClr val="FACC15"/>
                </a:solidFill>
                <a:latin typeface="JetBrains Mono"/>
              </a:rPr>
              <a:t>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6726" y="355282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Error Capturado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8494" y="3295650"/>
            <a:ext cx="4111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test_invalid_quantity(</a:t>
            </a:r>
            <a:r>
              <a:rPr b="1" sz="975" i="0" u="none">
                <a:solidFill>
                  <a:srgbClr val="FACC15"/>
                </a:solidFill>
                <a:latin typeface="JetBrains Mono"/>
              </a:rPr>
              <a:t>101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076" y="355282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4D399"/>
                </a:solidFill>
                <a:latin typeface="Plus Jakarta Sans"/>
              </a:rPr>
              <a:t>Error Capturado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5568"/>
            <a:ext cx="10972800" cy="1552575"/>
          </a:xfrm>
          <a:prstGeom prst="roundRect">
            <a:avLst>
              <a:gd name="adj" fmla="val 7361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426743"/>
            <a:ext cx="10972800" cy="557212"/>
          </a:xfrm>
          <a:prstGeom prst="roundRect">
            <a:avLst>
              <a:gd name="adj" fmla="val 10256"/>
            </a:avLst>
          </a:prstGeom>
          <a:solidFill>
            <a:srgbClr val="0D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26743"/>
            <a:ext cx="38100" cy="5572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043" y="3326606"/>
            <a:ext cx="1238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326606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131" y="3326606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284" y="2921793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328" y="2921793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371" y="2921793"/>
            <a:ext cx="495300" cy="49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415" y="2921793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584" y="3064668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203" y="3064668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0671" y="3064668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5290" y="3064668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DIAGRAMA DE ARQUITECTURA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667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Plus Jakarta Sans"/>
              </a:rPr>
              <a:t>Ciclo Completo: Ingesta, Validación y Suite 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598193"/>
            <a:ext cx="113728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8BDF8"/>
                </a:solidFill>
                <a:latin typeface="Plus Jakarta Sans"/>
              </a:rPr>
              <a:t>Resumen Pedagógico: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Pydantic actua como filtro defensivo en producción; PyTest es el inspector automático que previene errores durante el desarrollo.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290" y="3531393"/>
            <a:ext cx="32972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1. Ingesta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797" y="3769518"/>
            <a:ext cx="31402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Recepción de JSON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9334" y="3531393"/>
            <a:ext cx="32972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2. Filtro Pydantic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7841" y="3769518"/>
            <a:ext cx="31402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4D399"/>
                </a:solidFill>
                <a:latin typeface="Plus Jakarta Sans"/>
              </a:rPr>
              <a:t>Validación / Error 422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5378" y="3531393"/>
            <a:ext cx="32972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3. Lógica de 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885" y="3769518"/>
            <a:ext cx="31402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Procesamiento seguro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1422" y="3531393"/>
            <a:ext cx="32972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4. PyTest 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9928" y="3769518"/>
            <a:ext cx="31402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Verificación automática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67125" y="4441477"/>
            <a:ext cx="1666875" cy="304800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0" y="4441477"/>
            <a:ext cx="1323975" cy="304800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62775" y="4441477"/>
            <a:ext cx="1562100" cy="304800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11172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6412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4527202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4527202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4527202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1625" y="2949922"/>
            <a:ext cx="998874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8FAFC"/>
                </a:solidFill>
                <a:latin typeface="Plus Jakarta Sans"/>
              </a:rPr>
              <a:t>¡APIs Confiables y Pipelines Mantenibles!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3588097"/>
            <a:ext cx="8572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La combinación de validación de datos con Pydantic v2 y pruebas automáticas con PyTest garantiza código robusto para Data Engineering y desarrollo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1665" y="4498627"/>
            <a:ext cx="1607343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Plus Jakarta Sans"/>
              </a:rPr>
              <a:t>Pydantic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4753" y="4498627"/>
            <a:ext cx="1197768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Plus Jakarta Sans"/>
              </a:rPr>
              <a:t>PyTest Suites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1362" y="4498627"/>
            <a:ext cx="149542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Plus Jakarta Sans"/>
              </a:rPr>
              <a:t>FastAPI Backend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https://images.stockcake.com/public/5/7/b/57bfe6ac-e248-4b4d-b9ee-086d261513eb_large/night-programming-session-stockcake.jpg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6060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https://intellixsoftware.com/wp-content/uploads/2024/12/what-is-SQA-2.webp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intellixsoftware.com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